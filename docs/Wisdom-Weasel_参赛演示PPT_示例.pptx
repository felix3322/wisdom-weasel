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0"/>
            <a:ext cx="164592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051560"/>
            <a:ext cx="9875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icrosoft YaHei"/>
              </a:defRPr>
            </a:pPr>
            <a:r>
              <a:t>Wisdom-Weasel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1920240"/>
            <a:ext cx="9326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4155"/>
                </a:solidFill>
                <a:latin typeface="Microsoft YaHei"/>
              </a:defRPr>
            </a:pPr>
            <a:r>
              <a:t>基于上下文感知候选重排与联想预测的智能中文输入法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53312" y="2788920"/>
            <a:ext cx="905256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916936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Microsoft YaHei"/>
              </a:defRPr>
            </a:pPr>
            <a:r>
              <a:t>人工智能系列 / 创新实践项目演示稿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40480"/>
            <a:ext cx="96012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t>项目主张：让输入法从“拼音转文字工具”升级为“理解意图的表达协同系统”</a:t>
            </a:r>
          </a:p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t>一句话亮点：不是扩词库，而是重构“人和输入法之间的交互逻辑”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98932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Microsoft YaHei"/>
              </a:defRPr>
            </a:pPr>
            <a:r>
              <a:t>参赛形式：软件作品 / 可个人或团队（≤3人）参赛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01 参赛要求对照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项目与赛事要求完全匹配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基于你提供的两页参赛要求整理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65760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146304" cy="3566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01952"/>
            <a:ext cx="3291840" cy="3310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人工智能系列 / 创新实践项目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使用人工智能技术设计制作创新实践项目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可以是软件作品，也可以是软硬件结合的实物作品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本项目属于软件作品，且核心能力就是 AI 输入法重排与预测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737360"/>
            <a:ext cx="31546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737360"/>
            <a:ext cx="146304" cy="3566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1901952"/>
            <a:ext cx="2788920" cy="3310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参赛边界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支持个人或团队（不超过 3 人）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每件作品限报 2 名指导老师或空缺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通过在线提交、现场演示、测试答辩参与活动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737360"/>
            <a:ext cx="36118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1737360"/>
            <a:ext cx="146304" cy="3566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74152" y="1901952"/>
            <a:ext cx="3246120" cy="3310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软件与环境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赛事允许 Python / C++ / Javascript 等代码式编程语言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本项目实际使用：C++ / Lua / ONNX Runtime / LMDB / Rime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符合“编程软件与相关硬件”中的软件作品路径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532120"/>
            <a:ext cx="10698480" cy="594360"/>
          </a:xfrm>
          <a:prstGeom prst="roundRect">
            <a:avLst/>
          </a:prstGeom>
          <a:solidFill>
            <a:srgbClr val="FFF7ED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5660136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结论：Wisdom-Weasel 以“AI 软件创新实践项目”的身份参赛是成立的。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演示示例 / 可按参赛信息继续微调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02 问题定义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传统输入法的核心问题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不是“能不能打出来”，而是“能不能顺着人的表达打出来”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146304" cy="1417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01952"/>
            <a:ext cx="4846320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候选排序不够准确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同音词多，频繁选词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候选常常能打出来，但不是最想要的那个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37360"/>
            <a:ext cx="52120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737360"/>
            <a:ext cx="146304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901952"/>
            <a:ext cx="4846320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上下文理解弱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同一组拼音在不同语境里，应有完全不同的优先级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静态词频无法理解“我现在在写什么”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52120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383280"/>
            <a:ext cx="146304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47872"/>
            <a:ext cx="4846320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专业表达命中率低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学习：真题 / 复习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办公：变更日志 / 主持词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技术：重排延迟 / 缓存优化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383280"/>
            <a:ext cx="52120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3383280"/>
            <a:ext cx="146304" cy="14173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547872"/>
            <a:ext cx="4846320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输入法停留在“选字”阶段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用户暂停输入拼音时，系统不会帮助继续表达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输入法还没进入“表达辅助”层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212080"/>
            <a:ext cx="106070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340096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我们要做的不是一个更大的词库，而是一个更理解语境、更理解意图的输入系统。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演示示例 / 可按参赛信息继续微调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03 方案总览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把输入法拆成三层智能能力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候选生成、候选重排、表达预测各司其职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926080" cy="18288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029968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候选生成层</a:t>
            </a:r>
          </a:p>
          <a:p>
            <a:pPr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Rime / 万象</a:t>
            </a:r>
            <a:br/>
            <a:r>
              <a:t>负责拼音输入、词库、基础候选生成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26517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920240"/>
            <a:ext cx="292608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2544" y="2029968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候选重排层</a:t>
            </a:r>
          </a:p>
          <a:p>
            <a:pPr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Alpha 重排</a:t>
            </a:r>
            <a:br/>
            <a:r>
              <a:t>基于上下文语义实时重排候选池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6517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920240"/>
            <a:ext cx="3566160" cy="182880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27264" y="2029968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表达预测层</a:t>
            </a:r>
          </a:p>
          <a:p>
            <a:pPr>
              <a:defRPr sz="1100">
                <a:solidFill>
                  <a:srgbClr val="0F172A"/>
                </a:solidFill>
                <a:latin typeface="Microsoft YaHei"/>
              </a:defRPr>
            </a:pPr>
            <a:r>
              <a:t>LLM 无输入预测</a:t>
            </a:r>
            <a:br/>
            <a:r>
              <a:t>在停顿时补出短词、短语或短句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10561320" cy="914400"/>
          </a:xfrm>
          <a:prstGeom prst="roundRect">
            <a:avLst/>
          </a:prstGeom>
          <a:solidFill>
            <a:srgbClr val="EFF6FF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379976"/>
            <a:ext cx="10195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输入法从“被动响应按键”升级为“主动理解表达方向”。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44068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生成层保留成熟输入法能力；重排层解决“最想要哪个”；预测层解决“下一句想说什么”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演示示例 / 可按参赛信息继续微调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04 典型演示场景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现场演示建议直接用这 5 个稳定场景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覆盖办公、活动、医疗、学习、技术五类语境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5720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146304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01952"/>
            <a:ext cx="4206240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t>办公发布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明天要发布新版本，先把发布说明和……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输入：bg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目标：变更日志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737360"/>
            <a:ext cx="45720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1737360"/>
            <a:ext cx="146304" cy="13258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901952"/>
            <a:ext cx="4206240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t>活动主持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明天要上台主持活动，今晚把……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输入：zc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目标：主持词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37560"/>
            <a:ext cx="45720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337560"/>
            <a:ext cx="146304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4206240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t>医疗生活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这两天一直咳嗽发烧，下午得去……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输入：yy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目标：医院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3337560"/>
            <a:ext cx="45720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60" y="3337560"/>
            <a:ext cx="146304" cy="1325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3502152"/>
            <a:ext cx="4206240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t>学习备考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老师说明天考高数，我打算先做几套……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输入：zt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目标：真题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4937760"/>
            <a:ext cx="45720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4937760"/>
            <a:ext cx="146304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5102352"/>
            <a:ext cx="4206240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t>技术开发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今晚继续优化输入法 DLL 的……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输入：cp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目标：重排延迟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演示示例 / 可按参赛信息继续微调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05 核心创新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这个项目的创新点不在外观，而在交互范式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4290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146304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56232"/>
            <a:ext cx="3063240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创新点 1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从“拼音匹配”升级为“语义重排”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候选排序开始理解当前上下文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91640"/>
            <a:ext cx="34290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91640"/>
            <a:ext cx="146304" cy="1828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856232"/>
            <a:ext cx="3063240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创新点 2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输入法被拆成生成层 / 排序层 / 预测层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结构清晰，可持续扩展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91640"/>
            <a:ext cx="34290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691640"/>
            <a:ext cx="146304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856232"/>
            <a:ext cx="3063240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创新点 3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用户上屏行为会反过来影响未来排序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输入法开始具备持续记忆能力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0" y="3886200"/>
            <a:ext cx="38862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45920" y="3886200"/>
            <a:ext cx="146304" cy="1645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01952" y="4050792"/>
            <a:ext cx="3520440" cy="1389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创新点 4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强调本地实时智能，而不是纯云端依赖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适合输入法这种极度重视时延的交互场景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886200"/>
            <a:ext cx="420624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886200"/>
            <a:ext cx="146304" cy="1645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050792"/>
            <a:ext cx="3840480" cy="1389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创新点 5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把输入法从“选字工具”推进到“表达协作系统”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目标不是更快打字，而是更低成本完成表达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演示示例 / 可按参赛信息继续微调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06 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程序流程图（答辩时推荐这样讲）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先讲有拼音输入，再讲无拼音预测，最后讲反馈闭环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057400" cy="1143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892808"/>
            <a:ext cx="1783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用户输入</a:t>
            </a:r>
          </a:p>
          <a:p>
            <a:pPr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有拼音 / 无拼音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1945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783080"/>
            <a:ext cx="2286000" cy="1143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9544" y="1892808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Rime / 万象</a:t>
            </a:r>
          </a:p>
          <a:p>
            <a:pPr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生成原始候选池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21945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783080"/>
            <a:ext cx="2286000" cy="1143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61304" y="1892808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Alpha</a:t>
            </a:r>
          </a:p>
          <a:p>
            <a:pPr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实时语义重排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1945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063240" cy="114300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13064" y="1892808"/>
            <a:ext cx="2788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候选栏输出</a:t>
            </a:r>
          </a:p>
          <a:p>
            <a:pPr>
              <a:defRPr sz="1100">
                <a:solidFill>
                  <a:srgbClr val="0F172A"/>
                </a:solidFill>
                <a:latin typeface="Microsoft YaHei"/>
              </a:defRPr>
            </a:pPr>
            <a:r>
              <a:t>把更想要的候选放到前面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3657600"/>
            <a:ext cx="4389120" cy="128016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9304" y="3767328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无拼音预测分支</a:t>
            </a:r>
          </a:p>
          <a:p>
            <a:pPr>
              <a:defRPr sz="1100">
                <a:solidFill>
                  <a:srgbClr val="0F172A"/>
                </a:solidFill>
                <a:latin typeface="Microsoft YaHei"/>
              </a:defRPr>
            </a:pPr>
            <a:r>
              <a:t>读取最近上下文 → LLM 生成短词 / 短语 / 长句 → 候选栏展示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657600"/>
            <a:ext cx="4160520" cy="128016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767328"/>
            <a:ext cx="3886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反馈闭环分支</a:t>
            </a:r>
          </a:p>
          <a:p>
            <a:pPr>
              <a:defRPr sz="1100">
                <a:solidFill>
                  <a:srgbClr val="0F172A"/>
                </a:solidFill>
                <a:latin typeface="Microsoft YaHei"/>
              </a:defRPr>
            </a:pPr>
            <a:r>
              <a:t>用户上屏 → 记录 commit history → 更新会话偏好 / 长期偏好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486400"/>
            <a:ext cx="103327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5614416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4155"/>
                </a:solidFill>
                <a:latin typeface="Microsoft YaHei"/>
              </a:defRPr>
            </a:pPr>
            <a:r>
              <a:t>答辩说法：我们没有推翻输入法，只是在原系统之上叠加“理解上下文”和“协助表达”的能力层。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演示示例 / 可按参赛信息继续微调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07 报名材料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按参赛要求，建议这样准备提交材料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这一页可以直接作为答辩前的对照清单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7472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146304" cy="3383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01952"/>
            <a:ext cx="3108960" cy="3127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必须提交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① 在线报名信息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② 作品流程图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③ 作品演示视频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④ 创作说明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⑤ 环境说明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737360"/>
            <a:ext cx="324612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737360"/>
            <a:ext cx="146304" cy="33832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1901952"/>
            <a:ext cx="2880360" cy="3127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创作说明要写清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项目原创部分与参考部分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是否使用 AI 工具辅助创作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使用了哪些模型 / 平台 / 工具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这些工具在作品中的具体用途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737360"/>
            <a:ext cx="347472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1737360"/>
            <a:ext cx="146304" cy="3383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1" y="1901952"/>
            <a:ext cx="3108960" cy="3127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环境说明要写清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运行所需软件版本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平台与系统环境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程序启动与演示方式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如果评委现场复现，如何操作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86400"/>
            <a:ext cx="10652760" cy="594360"/>
          </a:xfrm>
          <a:prstGeom prst="roundRect">
            <a:avLst/>
          </a:prstGeom>
          <a:solidFill>
            <a:srgbClr val="EFF6FF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614416"/>
            <a:ext cx="10287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建议把“AI 辅助说明”写成单独小节，避免被评委追问时临场补充。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演示示例 / 可按参赛信息继续微调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08 现场演示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现场演示建议 5 分钟节奏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让评委先理解问题，再看效果，再看架构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t>第 1 分钟：先讲“传统输入法的问题”，别一上来就讲技术细节</a:t>
            </a:r>
          </a:p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t>第 2 分钟：现场打 2~3 个代表场景，展示候选排序为什么更贴近语境</a:t>
            </a:r>
          </a:p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t>第 3 分钟：展示无拼音预测，说明输入法如何从“选字”升级到“表达辅助”</a:t>
            </a:r>
          </a:p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t>第 4 分钟：展示三层架构图，解释 Rime / Alpha / LLM 各自职责</a:t>
            </a:r>
          </a:p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t>第 5 分钟：回到价值，强调学习、办公、技术写作都能直接受益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440680"/>
            <a:ext cx="10424160" cy="594360"/>
          </a:xfrm>
          <a:prstGeom prst="roundRect">
            <a:avLst/>
          </a:prstGeom>
          <a:solidFill>
            <a:srgbClr val="FFF7ED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5568696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不要把演示做成“堆术语”。评委更关心：问题是否真实、效果是否明显、结构是否清晰。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演示示例 / 可按参赛信息继续微调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09 项目价值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为什么这个项目值得继续做下去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146304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01952"/>
            <a:ext cx="3017520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学习场景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真题 / 复习 / 知识点回顾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降低学生在组织表达时的阻力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38328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737360"/>
            <a:ext cx="146304" cy="1828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901952"/>
            <a:ext cx="3017520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办公场景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变更日志 / 主持词 / 发布说明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提高高价值表达的命中效率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37360"/>
            <a:ext cx="338328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737360"/>
            <a:ext cx="146304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901952"/>
            <a:ext cx="3017520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技术场景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重排延迟 / 缓存优化 / 调试结论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帮助用户更快进入专业表达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57400" y="3977639"/>
            <a:ext cx="361188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57400" y="3977639"/>
            <a:ext cx="146304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13432" y="4142231"/>
            <a:ext cx="324612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产品潜力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可进一步扩展到个性化记忆、场景模型、长期偏好建模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977639"/>
            <a:ext cx="3749039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977639"/>
            <a:ext cx="146304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4142231"/>
            <a:ext cx="3383279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一句话总结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未来的输入法，不应该只是把拼音还原成汉字，而应该帮助人更顺畅地完成表达。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演示示例 / 可按参赛信息继续微调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10 结束页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icrosoft YaHei"/>
              </a:defRPr>
            </a:pPr>
            <a:r>
              <a:t>Wisdom-Weasel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19456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34155"/>
                </a:solidFill>
                <a:latin typeface="Microsoft YaHei"/>
              </a:defRPr>
            </a:pPr>
            <a:r>
              <a:t>让输入法从“打字工具”走向“表达协作系统”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" y="3200400"/>
            <a:ext cx="9966960" cy="685800"/>
          </a:xfrm>
          <a:prstGeom prst="roundRect">
            <a:avLst/>
          </a:prstGeom>
          <a:solidFill>
            <a:srgbClr val="FFF7ED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328416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Microsoft YaHei"/>
              </a:defRPr>
            </a:pPr>
            <a:r>
              <a:t>谢谢评委老师，欢迎提问。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100584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4155"/>
                </a:solidFill>
                <a:latin typeface="Microsoft YaHei"/>
              </a:defRPr>
            </a:pPr>
            <a:r>
              <a:t>答辩提示：</a:t>
            </a:r>
          </a:p>
          <a:p>
            <a:pPr>
              <a:defRPr sz="1400" b="0">
                <a:solidFill>
                  <a:srgbClr val="334155"/>
                </a:solidFill>
                <a:latin typeface="Microsoft YaHei"/>
              </a:defRPr>
            </a:pPr>
            <a:r>
              <a:t>1. 先讲真实问题，再讲方案，再讲效果。</a:t>
            </a:r>
          </a:p>
          <a:p>
            <a:pPr>
              <a:defRPr sz="1400" b="0">
                <a:solidFill>
                  <a:srgbClr val="334155"/>
                </a:solidFill>
                <a:latin typeface="Microsoft YaHei"/>
              </a:defRPr>
            </a:pPr>
            <a:r>
              <a:t>2. 若评委追问 AI 使用情况，直接翻到“报名材料”那页说明。</a:t>
            </a:r>
          </a:p>
          <a:p>
            <a:pPr>
              <a:defRPr sz="1400" b="0">
                <a:solidFill>
                  <a:srgbClr val="334155"/>
                </a:solidFill>
                <a:latin typeface="Microsoft YaHei"/>
              </a:defRPr>
            </a:pPr>
            <a:r>
              <a:t>3. 若评委追问工程实现，翻到“技术架构”那页即可。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生成文件：docs/Wisdom-Weasel_参赛演示PPT_示例.pptx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