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2U3-B1OTOPMH8zFHvHnrarZIWqnTBo0WYDZAbfPeuZ0" ContentType="image/png"/>
  <Override PartName="/ppt/media/image2.FsZZSbwNgZFeZy9OtbH8iqkH_I9xnn8uooxAGQWteEs" ContentType="image/pn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6" d="100"/>
          <a:sy n="146" d="100"/>
        </p:scale>
        <p:origin x="816" y="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2U3-B1OTOPMH8zFHvHnrarZIWqnTBo0WYDZAbfPeuZ0"/><Relationship Id="rId3" Type="http://schemas.openxmlformats.org/officeDocument/2006/relationships/image" Target="../media/image2.FsZZSbwNgZFeZy9OtbH8iqkH_I9xnn8uooxAGQWteEs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mzxyz/rime_wanxiang" TargetMode="External"/><Relationship Id="rId3" Type="http://schemas.openxmlformats.org/officeDocument/2006/relationships/hyperlink" Target="https://rime.im/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60120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13232" y="0"/>
            <a:ext cx="146304" cy="6858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98448" y="100584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Microsoft YaHei"/>
              </a:defRPr>
            </a:pPr>
            <a:r>
              <a:rPr dirty="0"/>
              <a:t>Wisdom-Weasel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847088"/>
            <a:ext cx="9692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4155"/>
                </a:solidFill>
                <a:latin typeface="Microsoft YaHei"/>
              </a:defRPr>
            </a:pPr>
            <a:r>
              <a:t>基于上下文感知候选重排与联想预测的智能中文输入法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25880" y="2743200"/>
            <a:ext cx="9144000" cy="713232"/>
          </a:xfrm>
          <a:prstGeom prst="roundRect">
            <a:avLst/>
          </a:prstGeom>
          <a:solidFill>
            <a:srgbClr val="F1F5F9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08760" y="2852928"/>
            <a:ext cx="8823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9E0B"/>
                </a:solidFill>
                <a:latin typeface="Microsoft YaHei"/>
              </a:defRPr>
            </a:pPr>
            <a:r>
              <a:rPr dirty="0" err="1"/>
              <a:t>让输入法从“拼音转文字工具”升级为“表达协作系统</a:t>
            </a:r>
            <a:r>
              <a:rPr dirty="0"/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840480"/>
            <a:ext cx="94183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作者姓名：刘佳颖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学校全称：上海外国语大学附属外国语学校松江云间中学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指导老师：丁海霞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编程语言：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C++, Lua, Python</a:t>
            </a:r>
            <a:b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辅助工具：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Codex CLI, Claude Code, Kimi k2.5,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MiniMax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M2.7</a:t>
            </a:r>
            <a:endParaRPr lang="en-US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600"/>
              </a:spcAft>
              <a:defRPr sz="1800">
                <a:solidFill>
                  <a:srgbClr val="334155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核心方向：理解语境、优化候选顺序、在停顿时继续辅助表达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6473952"/>
            <a:ext cx="1548822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Wisdom-Weasel /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演示版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01 能力递进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输入法能力的递进：传统词库 → 机器学习预测 → AI 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83080"/>
            <a:ext cx="10424160" cy="1631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334155"/>
                </a:solidFill>
                <a:latin typeface="Microsoft YaHei"/>
              </a:defRPr>
            </a:pPr>
            <a:r>
              <a:t>这不是三个并列功能，而是输入法能力的三次升级。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先解决“能不能打出来”，再解决“现在更可能想打什么”，最后解决“接下来还能怎么表达”。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3794760"/>
            <a:ext cx="128016" cy="13716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" y="3941064"/>
            <a:ext cx="2926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第一层 | 传统词库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按拼音匹配词条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保证基础输入稳定可用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回答“有没有这个词”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3794760"/>
            <a:ext cx="128016" cy="13716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72584" y="3941064"/>
            <a:ext cx="2926080" cy="108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第二层 | 机器学习预测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结合上下文判断当前语义趋势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把更可能想要的候选提前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回答“现在更像要哪个词”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794760"/>
            <a:ext cx="3291840" cy="13716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01000" y="3794760"/>
            <a:ext cx="128016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38744" y="3941064"/>
            <a:ext cx="2926080" cy="1084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第三层 | AI 助手</a:t>
            </a:r>
            <a:endParaRPr dirty="0"/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在停顿时补全短词、短语和语气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从选词进入表达辅助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4155"/>
                </a:solidFill>
                <a:latin typeface="Microsoft YaHei"/>
              </a:defRPr>
            </a:pPr>
            <a:r>
              <a:t>回答“接下来还能怎么写”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6720" y="4267200"/>
            <a:ext cx="182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2880" y="4267200"/>
            <a:ext cx="1828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02 演示一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699101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rPr lang="zh-CN" altLang="en-US" sz="2400"/>
              <a:t>有拼音输入时，系统会根据语境把更合理的词提前</a:t>
            </a:r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8473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endParaRPr sz="1600"/>
          </a:p>
        </p:txBody>
      </p:sp>
      <p:sp>
        <p:nvSpPr>
          <p:cNvPr id="7" name="Rounded Rectangle 6"/>
          <p:cNvSpPr/>
          <p:nvPr/>
        </p:nvSpPr>
        <p:spPr>
          <a:xfrm>
            <a:off x="822960" y="5532120"/>
            <a:ext cx="105613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5641848"/>
            <a:ext cx="618630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4155"/>
                </a:solidFill>
                <a:latin typeface="Microsoft YaHei"/>
              </a:defRPr>
            </a:pPr>
            <a:r>
              <a:rPr lang="zh-CN" altLang="en-US" sz="1300"/>
              <a:t>注：微信输入法可能有个性化调优，所以结果会因账号、习惯和设备不同而变化。</a:t>
            </a:r>
            <a:endParaRPr sz="1300"/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DCC2403C-5066-FEEE-A96B-282A912B8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037298"/>
              </p:ext>
            </p:extLst>
          </p:nvPr>
        </p:nvGraphicFramePr>
        <p:xfrm>
          <a:off x="1333500" y="1333500"/>
          <a:ext cx="9652000" cy="400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51087818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85628005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947284830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2785589532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408510316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lang="zh-CN" altLang="en-US" sz="1050" b="1">
                          <a:latin typeface="Microsoft YaHei" panose="020B0503020204020204" pitchFamily="34" charset="-122"/>
                        </a:rPr>
                        <a:t>场景上下文 </a:t>
                      </a:r>
                      <a:r>
                        <a:rPr lang="en-US" altLang="zh-CN" sz="1050" b="1">
                          <a:latin typeface="Microsoft YaHei" panose="020B0503020204020204" pitchFamily="34" charset="-122"/>
                        </a:rPr>
                        <a:t>(Context)</a:t>
                      </a:r>
                      <a:endParaRPr lang="zh-CN" altLang="en-US" sz="1050" b="1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50" b="1">
                          <a:latin typeface="Microsoft YaHei" panose="020B0503020204020204" pitchFamily="34" charset="-122"/>
                        </a:rPr>
                        <a:t>输入 </a:t>
                      </a:r>
                      <a:r>
                        <a:rPr lang="en-US" altLang="zh-CN" sz="1050" b="1">
                          <a:latin typeface="Microsoft YaHei" panose="020B0503020204020204" pitchFamily="34" charset="-122"/>
                        </a:rPr>
                        <a:t>(Pinyin)</a:t>
                      </a:r>
                      <a:endParaRPr lang="zh-CN" altLang="en-US" sz="1050" b="1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50" b="1">
                          <a:latin typeface="Microsoft YaHei" panose="020B0503020204020204" pitchFamily="34" charset="-122"/>
                        </a:rPr>
                        <a:t>预期结果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050" b="1">
                          <a:latin typeface="Microsoft YaHei" panose="020B0503020204020204" pitchFamily="34" charset="-122"/>
                        </a:rPr>
                        <a:t>Alpha </a:t>
                      </a:r>
                      <a:r>
                        <a:rPr lang="zh-CN" altLang="en-US" sz="1050" b="1">
                          <a:latin typeface="Microsoft YaHei" panose="020B0503020204020204" pitchFamily="34" charset="-122"/>
                        </a:rPr>
                        <a:t>向量排序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050" b="1">
                          <a:latin typeface="Microsoft YaHei" panose="020B0503020204020204" pitchFamily="34" charset="-122"/>
                        </a:rPr>
                        <a:t>微信输入法表现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2801377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马上要考试了，我需要开始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...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fx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复习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复习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复习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060189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下周要去杭州出差，先把酒店和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...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jp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机票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机票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机票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62592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明天要发布新版本，先把发布说明和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...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bg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变更日志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变更日志 ✅（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v2 </a:t>
                      </a:r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引擎结果）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报告 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497908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明天要上台主持活动，今晚把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...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zc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主持词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主持词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支持 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673669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这两天一直咳嗽发烧，下午得去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...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yy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医院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医院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医院 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1583695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今晚继续优化输入法 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DLL </a:t>
                      </a:r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的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...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cp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重排延迟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重排延迟 ✅（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v2 </a:t>
                      </a:r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引擎结果，存在微调因素）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产品 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412099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老师说明天考高数，我打算先做几套</a:t>
                      </a:r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...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900" b="0">
                          <a:latin typeface="Microsoft YaHei" panose="020B0503020204020204" pitchFamily="34" charset="-122"/>
                        </a:rPr>
                        <a:t>zt</a:t>
                      </a:r>
                      <a:endParaRPr lang="zh-CN" altLang="en-US" sz="900" b="0">
                        <a:latin typeface="Microsoft YaHei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真题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真题 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900" b="0">
                          <a:latin typeface="Microsoft YaHei" panose="020B0503020204020204" pitchFamily="34" charset="-122"/>
                        </a:rPr>
                        <a:t>状态 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1569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03 演示二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用户停下来时，输入法还能继续帮助表达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Microsoft YaHei"/>
              </a:defRPr>
            </a:pPr>
            <a:r>
              <a:t>无输入预测不是替用户写全文，而是在停顿时降低继续表达的成本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783080"/>
            <a:ext cx="128016" cy="3383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" y="1929384"/>
            <a:ext cx="3017520" cy="18466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技术语境</a:t>
            </a:r>
            <a:endParaRPr dirty="0"/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示例上下文：今晚继续优化输入法</a:t>
            </a:r>
            <a:r>
              <a:rPr dirty="0"/>
              <a:t> DLL 的……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展示系统补出的短结果</a:t>
            </a:r>
            <a:r>
              <a:rPr lang="zh-CN" altLang="en-US" dirty="0"/>
              <a:t>：</a:t>
            </a:r>
            <a:endParaRPr lang="en-US" dirty="0"/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highlight>
                  <a:srgbClr val="FFFF00"/>
                </a:highlight>
              </a:rPr>
              <a:t>延迟；兼容性；性能</a:t>
            </a:r>
            <a:endParaRPr dirty="0">
              <a:highlight>
                <a:srgbClr val="FFFF00"/>
              </a:highlight>
            </a:endParaRP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强调它更像“继续表达”而不是“继续打字</a:t>
            </a:r>
            <a:r>
              <a:rPr dirty="0"/>
              <a:t>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07408" y="1783080"/>
            <a:ext cx="128016" cy="3383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45152" y="1929384"/>
            <a:ext cx="3017520" cy="1669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办公语境</a:t>
            </a:r>
            <a:endParaRPr dirty="0"/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示例上下文：先把发布说明和</a:t>
            </a:r>
            <a:r>
              <a:rPr dirty="0"/>
              <a:t>……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endParaRPr lang="en-US" dirty="0"/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展示系统补出的短结果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highlight>
                  <a:srgbClr val="FFFF00"/>
                </a:highlight>
              </a:rPr>
              <a:t>程序文件；时间；文件</a:t>
            </a:r>
            <a:endParaRPr dirty="0">
              <a:highlight>
                <a:srgbClr val="FFFF00"/>
              </a:highlight>
            </a:endParaRP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说明输入法开始进入写作辅助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946136" y="1783080"/>
            <a:ext cx="3383280" cy="3383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46136" y="1783080"/>
            <a:ext cx="128016" cy="3383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80" y="1929384"/>
            <a:ext cx="3017520" cy="1669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学习语境</a:t>
            </a:r>
            <a:endParaRPr dirty="0"/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示例上下文：我打算先做几套</a:t>
            </a:r>
            <a:r>
              <a:rPr dirty="0"/>
              <a:t>……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endParaRPr lang="en-US" dirty="0"/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展示系统补出的短结果</a:t>
            </a:r>
            <a:r>
              <a:rPr lang="zh-CN" altLang="en-US" dirty="0"/>
              <a:t>：</a:t>
            </a:r>
            <a:endParaRPr lang="en-US" dirty="0"/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lang="zh-CN" altLang="en-US" dirty="0">
                <a:highlight>
                  <a:srgbClr val="FFFF00"/>
                </a:highlight>
              </a:rPr>
              <a:t>题；真题</a:t>
            </a:r>
            <a:endParaRPr dirty="0">
              <a:highlight>
                <a:srgbClr val="FFFF00"/>
              </a:highlight>
            </a:endParaRP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说明它能帮助用户继续组织内容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  <p:pic>
        <p:nvPicPr>
          <p:cNvPr id="18" name="图片 17" descr="image">
            <a:extLst>
              <a:ext uri="{FF2B5EF4-FFF2-40B4-BE49-F238E27FC236}">
                <a16:creationId xmlns:a16="http://schemas.microsoft.com/office/drawing/2014/main" id="{904F0780-BB41-F0FB-341E-0BAB3A7F1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730755"/>
            <a:ext cx="4756499" cy="670611"/>
          </a:xfrm>
          <a:prstGeom prst="rect">
            <a:avLst/>
          </a:prstGeom>
        </p:spPr>
      </p:pic>
      <p:pic>
        <p:nvPicPr>
          <p:cNvPr id="20" name="图片 19" descr="image">
            <a:extLst>
              <a:ext uri="{FF2B5EF4-FFF2-40B4-BE49-F238E27FC236}">
                <a16:creationId xmlns:a16="http://schemas.microsoft.com/office/drawing/2014/main" id="{25F9F81E-FBBB-9E95-FE3E-C2F10C93F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3517" y="5730755"/>
            <a:ext cx="5040726" cy="6695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04 系统方案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869661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rPr lang="zh-CN" altLang="en-US" sz="2200"/>
              <a:t>系统方案：先给候选，再按语境重排，人在停顿时继续获得辅助表达</a:t>
            </a:r>
            <a:endParaRPr sz="2200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834640" cy="1645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7824" y="2029968"/>
            <a:ext cx="256032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候选生成层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+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输入法后端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Rime /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万象</a:t>
            </a:r>
            <a:b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负责拼音输入、词库、基础候选生成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r>
              <a:rPr lang="en-US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https://github.com/amzxyz/rime_wanxiang</a:t>
            </a:r>
            <a:endParaRPr lang="en-US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r>
              <a:rPr lang="en-US" dirty="0">
                <a:solidFill>
                  <a:schemeClr val="accent5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https://rime.im/</a:t>
            </a:r>
            <a:endParaRPr lang="en-US" dirty="0">
              <a:solidFill>
                <a:schemeClr val="accent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 sz="1100">
                <a:solidFill>
                  <a:srgbClr val="FFFFFF"/>
                </a:solidFill>
                <a:latin typeface="Microsoft YaHei"/>
              </a:defRPr>
            </a:pP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0" y="2514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1920240"/>
            <a:ext cx="2834640" cy="16459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06824" y="2029968"/>
            <a:ext cx="256032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rPr lang="zh-CN" altLang="en-US" sz="1900"/>
              <a:t>候选重排层 </a:t>
            </a:r>
            <a:r>
              <a:rPr lang="en-US" altLang="zh-CN" sz="1900"/>
              <a:t>| Alpha
</a:t>
            </a:r>
            <a:r>
              <a:rPr lang="zh-CN" altLang="en-US" sz="1900"/>
              <a:t>读入最近输入内容*，
把更符合语境的词排到前面</a:t>
            </a:r>
            <a:endParaRPr sz="1900" dirty="0"/>
          </a:p>
        </p:txBody>
      </p:sp>
      <p:sp>
        <p:nvSpPr>
          <p:cNvPr id="10" name="TextBox 9"/>
          <p:cNvSpPr txBox="1"/>
          <p:nvPr/>
        </p:nvSpPr>
        <p:spPr>
          <a:xfrm>
            <a:off x="7086600" y="2514600"/>
            <a:ext cx="502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920240"/>
            <a:ext cx="3749039" cy="164592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35824" y="2029968"/>
            <a:ext cx="34747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表达预测层</a:t>
            </a:r>
            <a:endParaRPr dirty="0"/>
          </a:p>
          <a:p>
            <a:pPr>
              <a:defRPr sz="1100">
                <a:solidFill>
                  <a:srgbClr val="0F172A"/>
                </a:solidFill>
                <a:latin typeface="Microsoft YaHei"/>
              </a:defRPr>
            </a:pPr>
            <a:r>
              <a:rPr dirty="0"/>
              <a:t>LLM</a:t>
            </a:r>
            <a:br>
              <a:rPr dirty="0"/>
            </a:br>
            <a:r>
              <a:rPr dirty="0" err="1"/>
              <a:t>在无拼音场景下补出短词、短语或</a:t>
            </a:r>
            <a:r>
              <a:rPr lang="zh-CN" altLang="en-US" dirty="0"/>
              <a:t>表情符号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914400" y="4251960"/>
            <a:ext cx="10241280" cy="685800"/>
          </a:xfrm>
          <a:prstGeom prst="roundRect">
            <a:avLst/>
          </a:prstGeom>
          <a:solidFill>
            <a:srgbClr val="EFF6FF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361688"/>
            <a:ext cx="84561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rPr lang="zh-CN" altLang="en-US"/>
              <a:t>评委可以把它理解成：系统先给出一批候选，再结合你刚刚写的内容，把更合理的词提前。</a:t>
            </a: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5212080"/>
            <a:ext cx="100584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  <a:latin typeface="Microsoft YaHei"/>
              </a:defRPr>
            </a:pPr>
            <a:r>
              <a:rPr lang="zh-CN" altLang="en-US" sz="1400"/>
              <a:t>如果进一步解释 </a:t>
            </a:r>
            <a:r>
              <a:rPr lang="en-US" altLang="zh-CN" sz="1400"/>
              <a:t>Alpha </a:t>
            </a:r>
            <a:r>
              <a:rPr lang="zh-CN" altLang="en-US" sz="1400"/>
              <a:t>的内部做法，可以概括为：结合最近上下文*，预测 </a:t>
            </a:r>
            <a:r>
              <a:rPr lang="en-US" altLang="zh-CN" sz="1400"/>
              <a:t>token^ </a:t>
            </a:r>
            <a:r>
              <a:rPr lang="zh-CN" altLang="en-US" sz="1400"/>
              <a:t>向量</a:t>
            </a:r>
            <a:r>
              <a:rPr lang="en-US" altLang="zh-CN" sz="1400"/>
              <a:t>&amp;</a:t>
            </a:r>
            <a:r>
              <a:rPr lang="zh-CN" altLang="en-US" sz="1400"/>
              <a:t>，根据关联度</a:t>
            </a:r>
            <a:r>
              <a:rPr lang="en-US" altLang="zh-CN" sz="1400"/>
              <a:t>$ </a:t>
            </a:r>
            <a:r>
              <a:rPr lang="zh-CN" altLang="en-US" sz="1400"/>
              <a:t>排序候选。
*</a:t>
            </a:r>
            <a:r>
              <a:rPr lang="en-US" altLang="zh-CN" sz="1400"/>
              <a:t>: </a:t>
            </a:r>
            <a:r>
              <a:rPr lang="zh-CN" altLang="en-US" sz="1400"/>
              <a:t>最近输入的文本。</a:t>
            </a:r>
            <a:r>
              <a:rPr lang="en-US" altLang="zh-CN" sz="1400"/>
              <a:t>^: </a:t>
            </a:r>
            <a:r>
              <a:rPr lang="zh-CN" altLang="en-US" sz="1400"/>
              <a:t>大模型处理文本的基本单位。</a:t>
            </a:r>
            <a:r>
              <a:rPr lang="en-US" altLang="zh-CN" sz="1400"/>
              <a:t>&amp;: </a:t>
            </a:r>
            <a:r>
              <a:rPr lang="zh-CN" altLang="en-US" sz="1400"/>
              <a:t>用数字表示词语含义。</a:t>
            </a:r>
            <a:r>
              <a:rPr lang="en-US" altLang="zh-CN" sz="1400"/>
              <a:t>$: </a:t>
            </a:r>
            <a:r>
              <a:rPr lang="zh-CN" altLang="en-US" sz="1400"/>
              <a:t>当前语境和候选词的匹配程度。</a:t>
            </a:r>
            <a:endParaRPr sz="1400"/>
          </a:p>
        </p:txBody>
      </p:sp>
      <p:sp>
        <p:nvSpPr>
          <p:cNvPr id="16" name="Rectangle 15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017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7432"/>
            <a:ext cx="5029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05 核心创新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658368"/>
            <a:ext cx="884088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rPr lang="zh-CN" altLang="en-US"/>
              <a:t>项目真正的创新，不在界面，而在交互范式与模块边界</a:t>
            </a: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47472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128016" cy="1508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" y="1929384"/>
            <a:ext cx="3108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1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从“拼音匹配”升级到“语义重排”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783080"/>
            <a:ext cx="347472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70832" y="1783080"/>
            <a:ext cx="128016" cy="15087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08576" y="1929384"/>
            <a:ext cx="3108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2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输入法被拆成“生成层 + 排序层 + 预测层”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18704" y="1783080"/>
            <a:ext cx="3474720" cy="1508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18704" y="1783080"/>
            <a:ext cx="128016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56448" y="1929384"/>
            <a:ext cx="31089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t>创新点 3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t>用户上屏行为不再只是结果，而是未来排序的反馈信号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3657600"/>
            <a:ext cx="3886200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645920" y="3657600"/>
            <a:ext cx="128016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883664" y="3803904"/>
            <a:ext cx="3520440" cy="6232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dirty="0" err="1"/>
              <a:t>创新点</a:t>
            </a:r>
            <a:r>
              <a:rPr dirty="0"/>
              <a:t> 4</a:t>
            </a:r>
          </a:p>
          <a:p>
            <a:pPr>
              <a:spcBef>
                <a:spcPts val="300"/>
              </a:spcBef>
              <a:defRPr sz="1400">
                <a:solidFill>
                  <a:srgbClr val="334155"/>
                </a:solidFill>
                <a:latin typeface="Microsoft YaHei"/>
              </a:defRPr>
            </a:pPr>
            <a:r>
              <a:rPr dirty="0" err="1"/>
              <a:t>强调本地实时智能，而不是云端依赖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6400800" y="3657600"/>
            <a:ext cx="3886200" cy="15544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3657600"/>
            <a:ext cx="128016" cy="15544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38544" y="3803904"/>
            <a:ext cx="352044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Microsoft YaHei"/>
              </a:defRPr>
            </a:pPr>
            <a:r>
              <a:rPr lang="zh-CN" altLang="en-US"/>
              <a:t>创新点 </a:t>
            </a:r>
            <a:r>
              <a:rPr lang="en-US" altLang="zh-CN"/>
              <a:t>5 | </a:t>
            </a:r>
            <a:r>
              <a:rPr lang="zh-CN" altLang="en-US"/>
              <a:t>新增独立 </a:t>
            </a:r>
            <a:r>
              <a:rPr lang="en-US" altLang="zh-CN"/>
              <a:t>AI </a:t>
            </a:r>
            <a:r>
              <a:rPr lang="zh-CN" altLang="en-US"/>
              <a:t>助手模块，支持 </a:t>
            </a:r>
            <a:r>
              <a:rPr lang="en-US" altLang="zh-CN"/>
              <a:t>ASR / AI </a:t>
            </a:r>
            <a:r>
              <a:rPr lang="zh-CN" altLang="en-US"/>
              <a:t>对话 </a:t>
            </a:r>
            <a:r>
              <a:rPr lang="en-US" altLang="zh-CN"/>
              <a:t>/ </a:t>
            </a:r>
            <a:r>
              <a:rPr lang="zh-CN" altLang="en-US"/>
              <a:t>语气润色</a:t>
            </a: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6446520"/>
            <a:ext cx="107899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647395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icrosoft YaHei"/>
              </a:defRPr>
            </a:pPr>
            <a:r>
              <a:t>Wisdom-Weasel / 演示版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886</Words>
  <Application>Microsoft Office PowerPoint</Application>
  <PresentationFormat>宽屏</PresentationFormat>
  <Paragraphs>118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Microsoft YaHei</vt:lpstr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Jiaying Liu</cp:lastModifiedBy>
  <cp:revision>8</cp:revision>
  <dcterms:created xsi:type="dcterms:W3CDTF">2013-01-27T09:14:16Z</dcterms:created>
  <dcterms:modified xsi:type="dcterms:W3CDTF">2026-04-12T23:56:13Z</dcterms:modified>
  <cp:category/>
</cp:coreProperties>
</file>