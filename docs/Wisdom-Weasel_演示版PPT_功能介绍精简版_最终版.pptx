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.2U3-B1OTOPMH8zFHvHnrarZIWqnTBo0WYDZAbfPeuZ0" ContentType="image/png"/>
  <Override PartName="/ppt/media/image2.FsZZSbwNgZFeZy9OtbH8iqkH_I9xnn8uooxAGQWteEs" ContentType="image/pn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2" r:id="rId4"/>
    <p:sldId id="258" r:id="rId5"/>
    <p:sldId id="259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46" d="100"/>
          <a:sy n="146" d="100"/>
        </p:scale>
        <p:origin x="816" y="12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2U3-B1OTOPMH8zFHvHnrarZIWqnTBo0WYDZAbfPeuZ0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2U3-B1OTOPMH8zFHvHnrarZIWqnTBo0WYDZAbfPeuZ0"/><Relationship Id="rId3" Type="http://schemas.openxmlformats.org/officeDocument/2006/relationships/image" Target="../media/image2.FsZZSbwNgZFeZy9OtbH8iqkH_I9xnn8uooxAGQWteEs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60120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13232" y="0"/>
            <a:ext cx="146304" cy="68580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298448" y="1005840"/>
            <a:ext cx="98755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Microsoft YaHei"/>
              </a:defRPr>
            </a:pPr>
            <a:r>
              <a:rPr dirty="0"/>
              <a:t>Wisdom-Weasel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1847088"/>
            <a:ext cx="9692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334155"/>
                </a:solidFill>
                <a:latin typeface="Microsoft YaHei"/>
              </a:defRPr>
            </a:pPr>
            <a:r>
              <a:rPr dirty="0" err="1"/>
              <a:t>基于上下文感知候选重排与联想预测的智能中文输入法</a:t>
            </a:r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1325880" y="2743200"/>
            <a:ext cx="9144000" cy="713232"/>
          </a:xfrm>
          <a:prstGeom prst="roundRect">
            <a:avLst/>
          </a:prstGeom>
          <a:solidFill>
            <a:srgbClr val="F1F5F9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508760" y="2852928"/>
            <a:ext cx="8823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59E0B"/>
                </a:solidFill>
                <a:latin typeface="Microsoft YaHei"/>
              </a:defRPr>
            </a:pPr>
            <a:r>
              <a:rPr dirty="0" err="1"/>
              <a:t>让输入法从“拼音转文字工具”升级为“表达协作系统</a:t>
            </a:r>
            <a:r>
              <a:rPr dirty="0"/>
              <a:t>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840480"/>
            <a:ext cx="9418320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4155"/>
                </a:solidFill>
                <a:latin typeface="Microsoft YaHei"/>
              </a:defRPr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作者姓名：刘佳颖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600"/>
              </a:spcAft>
              <a:defRPr sz="1800">
                <a:solidFill>
                  <a:srgbClr val="334155"/>
                </a:solidFill>
                <a:latin typeface="Microsoft YaHei"/>
              </a:defRPr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学校全称：上海外国语大学附属外国语学校松江云间中学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600"/>
              </a:spcAft>
              <a:defRPr sz="1800">
                <a:solidFill>
                  <a:srgbClr val="334155"/>
                </a:solidFill>
                <a:latin typeface="Microsoft YaHei"/>
              </a:defRPr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指导老师：丁海霞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600"/>
              </a:spcAft>
              <a:defRPr sz="1800">
                <a:solidFill>
                  <a:srgbClr val="334155"/>
                </a:solidFill>
                <a:latin typeface="Microsoft YaHei"/>
              </a:defRPr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编程语言：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C++, Lua, Python</a:t>
            </a:r>
            <a:b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辅助工具：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Codex CLI, Claude Code, Kimi k2.5,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MiniMax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M2.7</a:t>
            </a:r>
            <a:endParaRPr lang="en-US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600"/>
              </a:spcAft>
              <a:defRPr sz="1800">
                <a:solidFill>
                  <a:srgbClr val="334155"/>
                </a:solidFill>
                <a:latin typeface="Microsoft YaHei"/>
              </a:defRPr>
            </a:pPr>
            <a:r>
              <a:rPr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核心方向：理解语境、优化候选顺序、在停顿时继续辅助表达</a:t>
            </a:r>
            <a:endParaRPr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6446520"/>
            <a:ext cx="1078992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6473952"/>
            <a:ext cx="1548822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Microsoft YaHei"/>
              </a:defRPr>
            </a:pPr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Wisdom-Weasel /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演示版</a:t>
            </a:r>
            <a:endParaRPr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017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7432"/>
            <a:ext cx="50292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01 项目目的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658368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0F172A"/>
                </a:solidFill>
                <a:latin typeface="Microsoft YaHei"/>
              </a:defRPr>
            </a:pPr>
            <a:r>
              <a:t>为什么要做 Wisdom-Weasel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783080"/>
            <a:ext cx="10424160" cy="1631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  <a:defRPr sz="1500" b="0">
                <a:solidFill>
                  <a:srgbClr val="334155"/>
                </a:solidFill>
                <a:latin typeface="Microsoft YaHei"/>
              </a:defRPr>
            </a:pPr>
            <a:r>
              <a:rPr dirty="0" err="1"/>
              <a:t>输入法在生活、学习和表达里都非常重要，但用户真正需要的，从来不只是“把拼音变成字</a:t>
            </a:r>
            <a:r>
              <a:rPr dirty="0"/>
              <a:t>”。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64748B"/>
                </a:solidFill>
                <a:latin typeface="Microsoft YaHei"/>
              </a:defRPr>
            </a:pPr>
            <a:r>
              <a:rPr dirty="0"/>
              <a:t>很多时候，人不是不会打字，而是不确定下一句该怎么接。于是我开发了这个程序，希望它能理解语境、保护隐私，并在关键时刻继续帮助表达。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3794760"/>
            <a:ext cx="3291840" cy="13716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68680" y="3794760"/>
            <a:ext cx="128016" cy="13716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06424" y="3941064"/>
            <a:ext cx="29260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  <a:defRPr sz="1700" b="1">
                <a:solidFill>
                  <a:srgbClr val="0F172A"/>
                </a:solidFill>
                <a:latin typeface="Microsoft YaHei"/>
              </a:defRPr>
            </a:pPr>
            <a:r>
              <a:rPr dirty="0" err="1"/>
              <a:t>表达会卡住</a:t>
            </a:r>
            <a:endParaRPr dirty="0"/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334155"/>
                </a:solidFill>
                <a:latin typeface="Microsoft YaHei"/>
              </a:defRPr>
            </a:pPr>
            <a:r>
              <a:rPr dirty="0" err="1"/>
              <a:t>聊天、写作、做笔记时</a:t>
            </a:r>
            <a:r>
              <a:rPr dirty="0"/>
              <a:t>，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334155"/>
                </a:solidFill>
                <a:latin typeface="Microsoft YaHei"/>
              </a:defRPr>
            </a:pPr>
            <a:r>
              <a:rPr dirty="0" err="1"/>
              <a:t>常常知道大意，却想不到下一句</a:t>
            </a:r>
            <a:r>
              <a:rPr dirty="0"/>
              <a:t>。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334155"/>
                </a:solidFill>
                <a:latin typeface="Microsoft YaHei"/>
              </a:defRPr>
            </a:pPr>
            <a:r>
              <a:rPr dirty="0" err="1"/>
              <a:t>传统输入法只能被动等输入</a:t>
            </a:r>
            <a:r>
              <a:rPr dirty="0"/>
              <a:t>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3794760"/>
            <a:ext cx="3291840" cy="13716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434840" y="3794760"/>
            <a:ext cx="128016" cy="13716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72584" y="3941064"/>
            <a:ext cx="2926080" cy="10266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  <a:defRPr sz="1700" b="1">
                <a:solidFill>
                  <a:srgbClr val="0F172A"/>
                </a:solidFill>
                <a:latin typeface="Microsoft YaHei"/>
              </a:defRPr>
            </a:pPr>
            <a:r>
              <a:rPr dirty="0" err="1"/>
              <a:t>传统输入法不懂上下文</a:t>
            </a:r>
            <a:endParaRPr dirty="0"/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334155"/>
                </a:solidFill>
                <a:latin typeface="Microsoft YaHei"/>
              </a:defRPr>
            </a:pPr>
            <a:r>
              <a:rPr dirty="0" err="1"/>
              <a:t>它不知道你正在写什么</a:t>
            </a:r>
            <a:r>
              <a:rPr dirty="0"/>
              <a:t>，</a:t>
            </a:r>
          </a:p>
          <a:p>
            <a:pPr>
              <a:lnSpc>
                <a:spcPct val="108000"/>
              </a:lnSpc>
              <a:defRPr sz="1100" b="0">
                <a:solidFill>
                  <a:srgbClr val="334155"/>
                </a:solidFill>
                <a:latin typeface="Microsoft YaHei"/>
              </a:defRPr>
            </a:pPr>
            <a:r>
              <a:rPr dirty="0" err="1"/>
              <a:t>经常要翻页、选词</a:t>
            </a:r>
            <a:r>
              <a:rPr lang="zh-CN" altLang="en-US" dirty="0"/>
              <a:t>候选推荐不够准确，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334155"/>
                </a:solidFill>
                <a:latin typeface="Microsoft YaHei"/>
              </a:defRPr>
            </a:pPr>
            <a:r>
              <a:rPr dirty="0"/>
              <a:t>、</a:t>
            </a:r>
            <a:r>
              <a:rPr dirty="0" err="1"/>
              <a:t>回退</a:t>
            </a:r>
            <a:r>
              <a:rPr dirty="0"/>
              <a:t>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01000" y="3794760"/>
            <a:ext cx="3291840" cy="13716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001000" y="3794760"/>
            <a:ext cx="128016" cy="13716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38744" y="3941064"/>
            <a:ext cx="2926080" cy="1084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  <a:defRPr sz="1700" b="1">
                <a:solidFill>
                  <a:srgbClr val="0F172A"/>
                </a:solidFill>
                <a:latin typeface="Microsoft YaHei"/>
              </a:defRPr>
            </a:pPr>
            <a:r>
              <a:rPr dirty="0" err="1"/>
              <a:t>缺少本地</a:t>
            </a:r>
            <a:r>
              <a:rPr dirty="0"/>
              <a:t> AI </a:t>
            </a:r>
            <a:r>
              <a:rPr dirty="0" err="1"/>
              <a:t>能力</a:t>
            </a:r>
            <a:endParaRPr dirty="0"/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334155"/>
                </a:solidFill>
                <a:latin typeface="Microsoft YaHei"/>
              </a:defRPr>
            </a:pPr>
            <a:r>
              <a:rPr dirty="0" err="1"/>
              <a:t>很多增强能力依赖云端处理</a:t>
            </a:r>
            <a:r>
              <a:rPr dirty="0"/>
              <a:t>，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334155"/>
                </a:solidFill>
                <a:latin typeface="Microsoft YaHei"/>
              </a:defRPr>
            </a:pPr>
            <a:r>
              <a:rPr dirty="0" err="1"/>
              <a:t>文本可能离开本地设备</a:t>
            </a:r>
            <a:r>
              <a:rPr dirty="0"/>
              <a:t>，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334155"/>
                </a:solidFill>
                <a:latin typeface="Microsoft YaHei"/>
              </a:defRPr>
            </a:pPr>
            <a:r>
              <a:rPr dirty="0" err="1"/>
              <a:t>会带来隐私与响应速度顾虑</a:t>
            </a:r>
            <a:r>
              <a:rPr dirty="0"/>
              <a:t>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6446520"/>
            <a:ext cx="1078992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49808" y="6473952"/>
            <a:ext cx="5029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Microsoft YaHei"/>
              </a:defRPr>
            </a:pPr>
            <a:r>
              <a:t>Wisdom-Weasel / 演示版</a:t>
            </a:r>
          </a:p>
        </p:txBody>
      </p:sp>
      <p:pic>
        <p:nvPicPr>
          <p:cNvPr id="18" name="图片 17" descr="image">
            <a:extLst>
              <a:ext uri="{FF2B5EF4-FFF2-40B4-BE49-F238E27FC236}">
                <a16:creationId xmlns:a16="http://schemas.microsoft.com/office/drawing/2014/main" id="{07C79CA2-CDAE-F021-B788-21CF48BD22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5449824"/>
            <a:ext cx="4756499" cy="67061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017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7432"/>
            <a:ext cx="5029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02 功能递进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658368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0F172A"/>
                </a:solidFill>
                <a:latin typeface="Microsoft YaHei"/>
              </a:defRPr>
            </a:pPr>
            <a:r>
              <a:t>传统词库 → 机器学习预测语言趋势 → AI 助手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10058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  <a:defRPr sz="1500" b="0">
                <a:solidFill>
                  <a:srgbClr val="334155"/>
                </a:solidFill>
                <a:latin typeface="Microsoft YaHei"/>
              </a:defRPr>
            </a:pPr>
            <a:r>
              <a:t>这不是三个并列功能，而是输入法能力的三次升级。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64748B"/>
                </a:solidFill>
                <a:latin typeface="Microsoft YaHei"/>
              </a:defRPr>
            </a:pPr>
            <a:r>
              <a:t>先解决“能不能打出来”，再解决“现在更可能想打什么”，最后解决“接下来还能怎么表达”。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2761488"/>
            <a:ext cx="2880360" cy="17830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68680" y="2761488"/>
            <a:ext cx="128016" cy="17830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06424" y="2907792"/>
            <a:ext cx="2514600" cy="160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  <a:defRPr sz="1800" b="1">
                <a:solidFill>
                  <a:srgbClr val="0F172A"/>
                </a:solidFill>
                <a:latin typeface="Microsoft YaHei"/>
              </a:defRPr>
            </a:pPr>
            <a:r>
              <a:rPr dirty="0" err="1"/>
              <a:t>第一层</a:t>
            </a:r>
            <a:r>
              <a:rPr dirty="0"/>
              <a:t> | </a:t>
            </a:r>
            <a:r>
              <a:rPr dirty="0" err="1"/>
              <a:t>传统词库</a:t>
            </a:r>
            <a:endParaRPr dirty="0"/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334155"/>
                </a:solidFill>
                <a:latin typeface="Microsoft YaHei"/>
              </a:defRPr>
            </a:pPr>
            <a:r>
              <a:rPr dirty="0" err="1"/>
              <a:t>稳定提供拼音候选</a:t>
            </a:r>
            <a:endParaRPr dirty="0"/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334155"/>
                </a:solidFill>
                <a:latin typeface="Microsoft YaHei"/>
              </a:defRPr>
            </a:pPr>
            <a:r>
              <a:rPr dirty="0" err="1"/>
              <a:t>先确保“能打出来</a:t>
            </a:r>
            <a:r>
              <a:rPr dirty="0"/>
              <a:t>”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334155"/>
                </a:solidFill>
                <a:latin typeface="Microsoft YaHei"/>
              </a:defRPr>
            </a:pPr>
            <a:r>
              <a:rPr dirty="0" err="1"/>
              <a:t>给出基础输入体验</a:t>
            </a:r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4041648" y="3429000"/>
            <a:ext cx="2286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59E0B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2761488"/>
            <a:ext cx="2880360" cy="17830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43400" y="2761488"/>
            <a:ext cx="128016" cy="178308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81144" y="2907792"/>
            <a:ext cx="2514600" cy="160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  <a:defRPr sz="1800" b="1">
                <a:solidFill>
                  <a:srgbClr val="0F172A"/>
                </a:solidFill>
                <a:latin typeface="Microsoft YaHei"/>
              </a:defRPr>
            </a:pPr>
            <a:r>
              <a:rPr dirty="0" err="1"/>
              <a:t>第二层</a:t>
            </a:r>
            <a:r>
              <a:rPr dirty="0"/>
              <a:t> | </a:t>
            </a:r>
            <a:r>
              <a:rPr dirty="0" err="1"/>
              <a:t>机器学习预测</a:t>
            </a:r>
            <a:endParaRPr dirty="0"/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334155"/>
                </a:solidFill>
                <a:latin typeface="Microsoft YaHei"/>
              </a:defRPr>
            </a:pPr>
            <a:r>
              <a:rPr dirty="0" err="1"/>
              <a:t>结合上下文预测语言趋势</a:t>
            </a:r>
            <a:endParaRPr dirty="0"/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334155"/>
                </a:solidFill>
                <a:latin typeface="Microsoft YaHei"/>
              </a:defRPr>
            </a:pPr>
            <a:r>
              <a:rPr dirty="0" err="1"/>
              <a:t>把更可能需要的词提前</a:t>
            </a:r>
            <a:endParaRPr dirty="0"/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334155"/>
                </a:solidFill>
                <a:latin typeface="Microsoft YaHei"/>
              </a:defRPr>
            </a:pPr>
            <a:r>
              <a:rPr dirty="0" err="1"/>
              <a:t>减少选词和翻页负担</a:t>
            </a:r>
            <a:endParaRPr dirty="0"/>
          </a:p>
        </p:txBody>
      </p:sp>
      <p:sp>
        <p:nvSpPr>
          <p:cNvPr id="13" name="TextBox 12"/>
          <p:cNvSpPr txBox="1"/>
          <p:nvPr/>
        </p:nvSpPr>
        <p:spPr>
          <a:xfrm>
            <a:off x="7516368" y="3429000"/>
            <a:ext cx="2286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59E0B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18120" y="2761488"/>
            <a:ext cx="2880360" cy="17830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818120" y="2761488"/>
            <a:ext cx="128016" cy="17830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55864" y="2907792"/>
            <a:ext cx="2514600" cy="160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  <a:defRPr sz="1800" b="1">
                <a:solidFill>
                  <a:srgbClr val="0F172A"/>
                </a:solidFill>
                <a:latin typeface="Microsoft YaHei"/>
              </a:defRPr>
            </a:pPr>
            <a:r>
              <a:rPr dirty="0" err="1"/>
              <a:t>第三层</a:t>
            </a:r>
            <a:r>
              <a:rPr dirty="0"/>
              <a:t> | AI </a:t>
            </a:r>
            <a:r>
              <a:rPr dirty="0" err="1"/>
              <a:t>助手</a:t>
            </a:r>
            <a:endParaRPr dirty="0"/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334155"/>
                </a:solidFill>
                <a:latin typeface="Microsoft YaHei"/>
              </a:defRPr>
            </a:pPr>
            <a:r>
              <a:rPr dirty="0" err="1"/>
              <a:t>在停顿时补全短词短句</a:t>
            </a:r>
            <a:endParaRPr dirty="0"/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334155"/>
                </a:solidFill>
                <a:latin typeface="Microsoft YaHei"/>
              </a:defRPr>
            </a:pPr>
            <a:r>
              <a:rPr dirty="0" err="1"/>
              <a:t>帮助继续表达而不只选字</a:t>
            </a:r>
            <a:endParaRPr dirty="0"/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334155"/>
                </a:solidFill>
                <a:latin typeface="Microsoft YaHei"/>
              </a:defRPr>
            </a:pPr>
            <a:r>
              <a:rPr dirty="0" err="1"/>
              <a:t>让输入法变成表达助手</a:t>
            </a:r>
            <a:endParaRPr dirty="0"/>
          </a:p>
        </p:txBody>
      </p:sp>
      <p:sp>
        <p:nvSpPr>
          <p:cNvPr id="17" name="Rectangle 16"/>
          <p:cNvSpPr/>
          <p:nvPr/>
        </p:nvSpPr>
        <p:spPr>
          <a:xfrm>
            <a:off x="731520" y="6446520"/>
            <a:ext cx="1078992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49808" y="6473952"/>
            <a:ext cx="5029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4748B"/>
                </a:solidFill>
                <a:latin typeface="Microsoft YaHei"/>
              </a:defRPr>
            </a:pPr>
            <a:r>
              <a:t>Wisdom-Weasel / 演示版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0175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7432"/>
            <a:ext cx="50292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03 演示效果一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658368"/>
            <a:ext cx="6991016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Microsoft YaHei"/>
              </a:defRPr>
            </a:pPr>
            <a:r>
              <a:rPr lang="zh-CN" altLang="en-US" sz="2400"/>
              <a:t>有拼音输入时，系统会根据语境把更合理的词提前</a:t>
            </a:r>
            <a:endParaRPr sz="2400"/>
          </a:p>
        </p:txBody>
      </p:sp>
      <p:sp>
        <p:nvSpPr>
          <p:cNvPr id="5" name="TextBox 4"/>
          <p:cNvSpPr txBox="1"/>
          <p:nvPr/>
        </p:nvSpPr>
        <p:spPr>
          <a:xfrm>
            <a:off x="777240" y="1261872"/>
            <a:ext cx="184731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Microsoft YaHei"/>
              </a:defRPr>
            </a:pPr>
            <a:endParaRPr sz="1600"/>
          </a:p>
        </p:txBody>
      </p:sp>
      <p:sp>
        <p:nvSpPr>
          <p:cNvPr id="7" name="Rounded Rectangle 6"/>
          <p:cNvSpPr/>
          <p:nvPr/>
        </p:nvSpPr>
        <p:spPr>
          <a:xfrm>
            <a:off x="822960" y="5532120"/>
            <a:ext cx="1056132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5641848"/>
            <a:ext cx="186192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dirty="0" err="1">
                <a:solidFill>
                  <a:srgbClr val="34495E"/>
                </a:solidFill>
                <a:latin typeface="Microsoft YaHei"/>
              </a:rPr>
              <a:t>真实场景</a:t>
            </a:r>
            <a:r>
              <a:rPr sz="1200" dirty="0">
                <a:solidFill>
                  <a:srgbClr val="34495E"/>
                </a:solidFill>
                <a:latin typeface="Microsoft YaHei"/>
              </a:rPr>
              <a:t> Top1 </a:t>
            </a:r>
            <a:r>
              <a:rPr sz="1200" dirty="0" err="1">
                <a:solidFill>
                  <a:srgbClr val="34495E"/>
                </a:solidFill>
                <a:latin typeface="Microsoft YaHei"/>
              </a:rPr>
              <a:t>命中样例</a:t>
            </a:r>
            <a:endParaRPr sz="1200" dirty="0">
              <a:solidFill>
                <a:srgbClr val="34495E"/>
              </a:solidFill>
              <a:latin typeface="Microsoft YaHei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6446520"/>
            <a:ext cx="1078992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6473952"/>
            <a:ext cx="5029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Microsoft YaHei"/>
              </a:defRPr>
            </a:pPr>
            <a:r>
              <a:t>Wisdom-Weasel / 演示版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31520" y="1200000"/>
          <a:ext cx="10790000" cy="42799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00000"/>
                <a:gridCol w="700000"/>
                <a:gridCol w="1300000"/>
                <a:gridCol w="2450000"/>
                <a:gridCol w="2240000"/>
              </a:tblGrid>
              <a:tr h="356666">
                <a:tc>
                  <a:txBody>
                    <a:bodyPr/>
                    <a:lstStyle/>
                    <a:p>
                      <a:pPr algn="l"/>
                      <a:r>
                        <a:rPr sz="880" b="1">
                          <a:solidFill>
                            <a:srgbClr val="FFFFFF"/>
                          </a:solidFill>
                          <a:latin typeface="Microsoft YaHei"/>
                        </a:rPr>
                        <a:t>场景上下文 (Context)</a:t>
                      </a:r>
                    </a:p>
                  </a:txBody>
                  <a:tcPr marL="38100" marR="38100" marT="19050" marB="19050" anchor="ctr">
                    <a:solidFill>
                      <a:srgbClr val="2346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1">
                          <a:solidFill>
                            <a:srgbClr val="FFFFFF"/>
                          </a:solidFill>
                          <a:latin typeface="Microsoft YaHei"/>
                        </a:rPr>
                        <a:t>输入</a:t>
                      </a:r>
                    </a:p>
                  </a:txBody>
                  <a:tcPr marL="38100" marR="38100" marT="19050" marB="19050" anchor="ctr">
                    <a:solidFill>
                      <a:srgbClr val="2346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1">
                          <a:solidFill>
                            <a:srgbClr val="FFFFFF"/>
                          </a:solidFill>
                          <a:latin typeface="Microsoft YaHei"/>
                        </a:rPr>
                        <a:t>预期结果</a:t>
                      </a:r>
                    </a:p>
                  </a:txBody>
                  <a:tcPr marL="38100" marR="38100" marT="19050" marB="19050" anchor="ctr">
                    <a:solidFill>
                      <a:srgbClr val="2346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1">
                          <a:solidFill>
                            <a:srgbClr val="FFFFFF"/>
                          </a:solidFill>
                          <a:latin typeface="Microsoft YaHei"/>
                        </a:rPr>
                        <a:t>我的算法 Top1</a:t>
                      </a:r>
                    </a:p>
                  </a:txBody>
                  <a:tcPr marL="38100" marR="38100" marT="19050" marB="19050" anchor="ctr">
                    <a:solidFill>
                      <a:srgbClr val="2346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1">
                          <a:solidFill>
                            <a:srgbClr val="FFFFFF"/>
                          </a:solidFill>
                          <a:latin typeface="Microsoft YaHei"/>
                        </a:rPr>
                        <a:t>原始首选</a:t>
                      </a:r>
                    </a:p>
                  </a:txBody>
                  <a:tcPr marL="38100" marR="38100" marT="19050" marB="19050" anchor="ctr">
                    <a:solidFill>
                      <a:srgbClr val="23466E"/>
                    </a:solidFill>
                  </a:tcPr>
                </a:tc>
              </a:tr>
              <a:tr h="35666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263238"/>
                          </a:solidFill>
                          <a:latin typeface="Microsoft YaHei"/>
                        </a:rPr>
                        <a:t>公司财务…</a:t>
                      </a:r>
                    </a:p>
                  </a:txBody>
                  <a:tcPr marL="38100" marR="38100" marT="19050" marB="19050" anchor="ctr">
                    <a:solidFill>
                      <a:srgbClr val="E8F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263238"/>
                          </a:solidFill>
                          <a:latin typeface="Microsoft YaHei"/>
                        </a:rPr>
                        <a:t>fx</a:t>
                      </a:r>
                    </a:p>
                  </a:txBody>
                  <a:tcPr marL="38100" marR="38100" marT="19050" marB="19050" anchor="ctr">
                    <a:solidFill>
                      <a:srgbClr val="E8F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263238"/>
                          </a:solidFill>
                          <a:latin typeface="Microsoft YaHei"/>
                        </a:rPr>
                        <a:t>分析</a:t>
                      </a:r>
                    </a:p>
                  </a:txBody>
                  <a:tcPr marL="38100" marR="38100" marT="19050" marB="19050" anchor="ctr">
                    <a:solidFill>
                      <a:srgbClr val="E8F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14764E"/>
                          </a:solidFill>
                          <a:latin typeface="Microsoft YaHei"/>
                        </a:rPr>
                        <a:t>分析 ✅ 3→1</a:t>
                      </a:r>
                    </a:p>
                  </a:txBody>
                  <a:tcPr marL="38100" marR="38100" marT="19050" marB="19050" anchor="ctr">
                    <a:solidFill>
                      <a:srgbClr val="E8F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A03C3C"/>
                          </a:solidFill>
                          <a:latin typeface="Microsoft YaHei"/>
                        </a:rPr>
                        <a:t>复习 ❌</a:t>
                      </a:r>
                    </a:p>
                  </a:txBody>
                  <a:tcPr marL="38100" marR="38100" marT="19050" marB="19050" anchor="ctr">
                    <a:solidFill>
                      <a:srgbClr val="E8F8F0"/>
                    </a:solidFill>
                  </a:tcPr>
                </a:tc>
              </a:tr>
              <a:tr h="356666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63238"/>
                          </a:solidFill>
                          <a:latin typeface="Microsoft YaHei"/>
                        </a:rPr>
                        <a:t>马上要考试了，我需要开始…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63238"/>
                          </a:solidFill>
                          <a:latin typeface="Microsoft YaHei"/>
                        </a:rPr>
                        <a:t>fx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63238"/>
                          </a:solidFill>
                          <a:latin typeface="Microsoft YaHei"/>
                        </a:rPr>
                        <a:t>复习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14764E"/>
                          </a:solidFill>
                          <a:latin typeface="Microsoft YaHei"/>
                        </a:rPr>
                        <a:t>复习 ✅ 4→1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A03C3C"/>
                          </a:solidFill>
                          <a:latin typeface="Microsoft YaHei"/>
                        </a:rPr>
                        <a:t>分享 ❌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</a:tr>
              <a:tr h="356666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63238"/>
                          </a:solidFill>
                          <a:latin typeface="Microsoft YaHei"/>
                        </a:rPr>
                        <a:t>明天要发布新版本，先把发布说明和…</a:t>
                      </a:r>
                    </a:p>
                  </a:txBody>
                  <a:tcPr marL="38100" marR="38100" marT="19050" marB="19050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63238"/>
                          </a:solidFill>
                          <a:latin typeface="Microsoft YaHei"/>
                        </a:rPr>
                        <a:t>bg</a:t>
                      </a:r>
                    </a:p>
                  </a:txBody>
                  <a:tcPr marL="38100" marR="38100" marT="19050" marB="19050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63238"/>
                          </a:solidFill>
                          <a:latin typeface="Microsoft YaHei"/>
                        </a:rPr>
                        <a:t>变更日志</a:t>
                      </a:r>
                    </a:p>
                  </a:txBody>
                  <a:tcPr marL="38100" marR="38100" marT="19050" marB="19050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14764E"/>
                          </a:solidFill>
                          <a:latin typeface="Microsoft YaHei"/>
                        </a:rPr>
                        <a:t>变更日志 ✅ 2→1</a:t>
                      </a:r>
                    </a:p>
                  </a:txBody>
                  <a:tcPr marL="38100" marR="38100" marT="19050" marB="19050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A03C3C"/>
                          </a:solidFill>
                          <a:latin typeface="Microsoft YaHei"/>
                        </a:rPr>
                        <a:t>本该 ❌</a:t>
                      </a:r>
                    </a:p>
                  </a:txBody>
                  <a:tcPr marL="38100" marR="38100" marT="19050" marB="19050" anchor="ctr">
                    <a:solidFill>
                      <a:srgbClr val="F5F8FC"/>
                    </a:solidFill>
                  </a:tcPr>
                </a:tc>
              </a:tr>
              <a:tr h="356666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63238"/>
                          </a:solidFill>
                          <a:latin typeface="Microsoft YaHei"/>
                        </a:rPr>
                        <a:t>明天发布新…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63238"/>
                          </a:solidFill>
                          <a:latin typeface="Microsoft YaHei"/>
                        </a:rPr>
                        <a:t>bb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63238"/>
                          </a:solidFill>
                          <a:latin typeface="Microsoft YaHei"/>
                        </a:rPr>
                        <a:t>版本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14764E"/>
                          </a:solidFill>
                          <a:latin typeface="Microsoft YaHei"/>
                        </a:rPr>
                        <a:t>版本 ✅ 3→1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A03C3C"/>
                          </a:solidFill>
                          <a:latin typeface="Microsoft YaHei"/>
                        </a:rPr>
                        <a:t>爸爸 ❌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</a:tr>
              <a:tr h="356666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63238"/>
                          </a:solidFill>
                          <a:latin typeface="Microsoft YaHei"/>
                        </a:rPr>
                        <a:t>后台系统需要统一权限…</a:t>
                      </a:r>
                    </a:p>
                  </a:txBody>
                  <a:tcPr marL="38100" marR="38100" marT="19050" marB="19050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63238"/>
                          </a:solidFill>
                          <a:latin typeface="Microsoft YaHei"/>
                        </a:rPr>
                        <a:t>gl</a:t>
                      </a:r>
                    </a:p>
                  </a:txBody>
                  <a:tcPr marL="38100" marR="38100" marT="19050" marB="19050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63238"/>
                          </a:solidFill>
                          <a:latin typeface="Microsoft YaHei"/>
                        </a:rPr>
                        <a:t>管理</a:t>
                      </a:r>
                    </a:p>
                  </a:txBody>
                  <a:tcPr marL="38100" marR="38100" marT="19050" marB="19050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14764E"/>
                          </a:solidFill>
                          <a:latin typeface="Microsoft YaHei"/>
                        </a:rPr>
                        <a:t>管理 ✅ 3→1</a:t>
                      </a:r>
                    </a:p>
                  </a:txBody>
                  <a:tcPr marL="38100" marR="38100" marT="19050" marB="19050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A03C3C"/>
                          </a:solidFill>
                          <a:latin typeface="Microsoft YaHei"/>
                        </a:rPr>
                        <a:t>改了 ❌</a:t>
                      </a:r>
                    </a:p>
                  </a:txBody>
                  <a:tcPr marL="38100" marR="38100" marT="19050" marB="19050" anchor="ctr">
                    <a:solidFill>
                      <a:srgbClr val="F5F8FC"/>
                    </a:solidFill>
                  </a:tcPr>
                </a:tc>
              </a:tr>
              <a:tr h="356666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63238"/>
                          </a:solidFill>
                          <a:latin typeface="Microsoft YaHei"/>
                        </a:rPr>
                        <a:t>这份文档需要补充功能…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63238"/>
                          </a:solidFill>
                          <a:latin typeface="Microsoft YaHei"/>
                        </a:rPr>
                        <a:t>sm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63238"/>
                          </a:solidFill>
                          <a:latin typeface="Microsoft YaHei"/>
                        </a:rPr>
                        <a:t>说明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14764E"/>
                          </a:solidFill>
                          <a:latin typeface="Microsoft YaHei"/>
                        </a:rPr>
                        <a:t>说明 ✅ 5→1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A03C3C"/>
                          </a:solidFill>
                          <a:latin typeface="Microsoft YaHei"/>
                        </a:rPr>
                        <a:t>岁末 ❌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</a:tr>
              <a:tr h="356666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63238"/>
                          </a:solidFill>
                          <a:latin typeface="Microsoft YaHei"/>
                        </a:rPr>
                        <a:t>这门课程主要讲在线…</a:t>
                      </a:r>
                    </a:p>
                  </a:txBody>
                  <a:tcPr marL="38100" marR="38100" marT="19050" marB="19050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63238"/>
                          </a:solidFill>
                          <a:latin typeface="Microsoft YaHei"/>
                        </a:rPr>
                        <a:t>jy</a:t>
                      </a:r>
                    </a:p>
                  </a:txBody>
                  <a:tcPr marL="38100" marR="38100" marT="19050" marB="19050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63238"/>
                          </a:solidFill>
                          <a:latin typeface="Microsoft YaHei"/>
                        </a:rPr>
                        <a:t>教育</a:t>
                      </a:r>
                    </a:p>
                  </a:txBody>
                  <a:tcPr marL="38100" marR="38100" marT="19050" marB="19050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14764E"/>
                          </a:solidFill>
                          <a:latin typeface="Microsoft YaHei"/>
                        </a:rPr>
                        <a:t>教育 ✅ 6→1</a:t>
                      </a:r>
                    </a:p>
                  </a:txBody>
                  <a:tcPr marL="38100" marR="38100" marT="19050" marB="19050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A03C3C"/>
                          </a:solidFill>
                          <a:latin typeface="Microsoft YaHei"/>
                        </a:rPr>
                        <a:t>建议 ❌</a:t>
                      </a:r>
                    </a:p>
                  </a:txBody>
                  <a:tcPr marL="38100" marR="38100" marT="19050" marB="19050" anchor="ctr">
                    <a:solidFill>
                      <a:srgbClr val="F5F8FC"/>
                    </a:solidFill>
                  </a:tcPr>
                </a:tc>
              </a:tr>
              <a:tr h="356666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63238"/>
                          </a:solidFill>
                          <a:latin typeface="Microsoft YaHei"/>
                        </a:rPr>
                        <a:t>上课前先播放教学…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63238"/>
                          </a:solidFill>
                          <a:latin typeface="Microsoft YaHei"/>
                        </a:rPr>
                        <a:t>sp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63238"/>
                          </a:solidFill>
                          <a:latin typeface="Microsoft YaHei"/>
                        </a:rPr>
                        <a:t>视频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14764E"/>
                          </a:solidFill>
                          <a:latin typeface="Microsoft YaHei"/>
                        </a:rPr>
                        <a:t>视频 ✅ 5→1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A03C3C"/>
                          </a:solidFill>
                          <a:latin typeface="Microsoft YaHei"/>
                        </a:rPr>
                        <a:t>算盘 ❌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</a:tr>
              <a:tr h="356666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63238"/>
                          </a:solidFill>
                          <a:latin typeface="Microsoft YaHei"/>
                        </a:rPr>
                        <a:t>这学期选了一门新…</a:t>
                      </a:r>
                    </a:p>
                  </a:txBody>
                  <a:tcPr marL="38100" marR="38100" marT="19050" marB="19050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63238"/>
                          </a:solidFill>
                          <a:latin typeface="Microsoft YaHei"/>
                        </a:rPr>
                        <a:t>kc</a:t>
                      </a:r>
                    </a:p>
                  </a:txBody>
                  <a:tcPr marL="38100" marR="38100" marT="19050" marB="19050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63238"/>
                          </a:solidFill>
                          <a:latin typeface="Microsoft YaHei"/>
                        </a:rPr>
                        <a:t>课程</a:t>
                      </a:r>
                    </a:p>
                  </a:txBody>
                  <a:tcPr marL="38100" marR="38100" marT="19050" marB="19050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14764E"/>
                          </a:solidFill>
                          <a:latin typeface="Microsoft YaHei"/>
                        </a:rPr>
                        <a:t>课程 ✅ 5→1</a:t>
                      </a:r>
                    </a:p>
                  </a:txBody>
                  <a:tcPr marL="38100" marR="38100" marT="19050" marB="19050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A03C3C"/>
                          </a:solidFill>
                          <a:latin typeface="Microsoft YaHei"/>
                        </a:rPr>
                        <a:t>空仓 ❌</a:t>
                      </a:r>
                    </a:p>
                  </a:txBody>
                  <a:tcPr marL="38100" marR="38100" marT="19050" marB="19050" anchor="ctr">
                    <a:solidFill>
                      <a:srgbClr val="F5F8FC"/>
                    </a:solidFill>
                  </a:tcPr>
                </a:tc>
              </a:tr>
              <a:tr h="356666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63238"/>
                          </a:solidFill>
                          <a:latin typeface="Microsoft YaHei"/>
                        </a:rPr>
                        <a:t>下个月要去首都…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63238"/>
                          </a:solidFill>
                          <a:latin typeface="Microsoft YaHei"/>
                        </a:rPr>
                        <a:t>bj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63238"/>
                          </a:solidFill>
                          <a:latin typeface="Microsoft YaHei"/>
                        </a:rPr>
                        <a:t>北京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14764E"/>
                          </a:solidFill>
                          <a:latin typeface="Microsoft YaHei"/>
                        </a:rPr>
                        <a:t>北京 ✅ 5→1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A03C3C"/>
                          </a:solidFill>
                          <a:latin typeface="Microsoft YaHei"/>
                        </a:rPr>
                        <a:t>别急 ❌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</a:tr>
              <a:tr h="356666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63238"/>
                          </a:solidFill>
                          <a:latin typeface="Microsoft YaHei"/>
                        </a:rPr>
                        <a:t>产品经理收集用户…</a:t>
                      </a:r>
                    </a:p>
                  </a:txBody>
                  <a:tcPr marL="38100" marR="38100" marT="19050" marB="19050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63238"/>
                          </a:solidFill>
                          <a:latin typeface="Microsoft YaHei"/>
                        </a:rPr>
                        <a:t>xq</a:t>
                      </a:r>
                    </a:p>
                  </a:txBody>
                  <a:tcPr marL="38100" marR="38100" marT="19050" marB="19050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63238"/>
                          </a:solidFill>
                          <a:latin typeface="Microsoft YaHei"/>
                        </a:rPr>
                        <a:t>需求</a:t>
                      </a:r>
                    </a:p>
                  </a:txBody>
                  <a:tcPr marL="38100" marR="38100" marT="19050" marB="19050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14764E"/>
                          </a:solidFill>
                          <a:latin typeface="Microsoft YaHei"/>
                        </a:rPr>
                        <a:t>需求 ✅ 3→1</a:t>
                      </a:r>
                    </a:p>
                  </a:txBody>
                  <a:tcPr marL="38100" marR="38100" marT="19050" marB="19050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A03C3C"/>
                          </a:solidFill>
                          <a:latin typeface="Microsoft YaHei"/>
                        </a:rPr>
                        <a:t>雄起 ❌</a:t>
                      </a:r>
                    </a:p>
                  </a:txBody>
                  <a:tcPr marL="38100" marR="38100" marT="19050" marB="19050" anchor="ctr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017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7432"/>
            <a:ext cx="50292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04 演示效果二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658368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Microsoft YaHei"/>
              </a:defRPr>
            </a:pPr>
            <a:r>
              <a:t>用户停下来时，输入法还能继续帮助表达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61872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Microsoft YaHei"/>
              </a:defRPr>
            </a:pPr>
            <a:r>
              <a:t>无输入预测不是替用户写全文，而是在停顿时降低继续表达的成本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783080"/>
            <a:ext cx="3383280" cy="33832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68680" y="1783080"/>
            <a:ext cx="128016" cy="33832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06424" y="1929384"/>
            <a:ext cx="3017520" cy="18466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>
                <a:solidFill>
                  <a:srgbClr val="334155"/>
                </a:solidFill>
                <a:latin typeface="Microsoft YaHei"/>
              </a:defRPr>
            </a:pPr>
            <a:r>
              <a:t>发布语境</a:t>
            </a:r>
          </a:p>
          <a:p>
            <a:pPr>
              <a:defRPr>
                <a:solidFill>
                  <a:srgbClr val="334155"/>
                </a:solidFill>
                <a:latin typeface="Microsoft YaHei"/>
              </a:defRPr>
            </a:pPr>
            <a:r>
              <a:t>示例上下文：先把发布说明和……</a:t>
            </a:r>
          </a:p>
          <a:p>
            <a:pPr>
              <a:defRPr>
                <a:solidFill>
                  <a:srgbClr val="334155"/>
                </a:solidFill>
                <a:latin typeface="Microsoft YaHei"/>
              </a:defRPr>
            </a:pPr>
            <a:endParaRPr/>
          </a:p>
          <a:p>
            <a:pPr>
              <a:defRPr>
                <a:solidFill>
                  <a:srgbClr val="334155"/>
                </a:solidFill>
                <a:latin typeface="Microsoft YaHei"/>
              </a:defRPr>
            </a:pPr>
            <a:r>
              <a:t>示例输出：</a:t>
            </a:r>
          </a:p>
          <a:p>
            <a:pPr>
              <a:defRPr>
                <a:solidFill>
                  <a:srgbClr val="334155"/>
                </a:solidFill>
                <a:latin typeface="Microsoft YaHei"/>
              </a:defRPr>
            </a:pPr>
            <a:r>
              <a:t>变更日志；版本要点；风险说明</a:t>
            </a:r>
          </a:p>
          <a:p>
            <a:pPr>
              <a:defRPr>
                <a:solidFill>
                  <a:srgbClr val="334155"/>
                </a:solidFill>
                <a:latin typeface="Microsoft YaHei"/>
              </a:defRPr>
            </a:pPr>
            <a:r>
              <a:t>说明输入法开始进入写作辅助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07408" y="1783080"/>
            <a:ext cx="3383280" cy="33832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407408" y="1783080"/>
            <a:ext cx="128016" cy="338328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45152" y="1929384"/>
            <a:ext cx="3017520" cy="16696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>
                <a:solidFill>
                  <a:srgbClr val="334155"/>
                </a:solidFill>
                <a:latin typeface="Microsoft YaHei"/>
              </a:defRPr>
            </a:pPr>
            <a:r>
              <a:t>活动语境</a:t>
            </a:r>
          </a:p>
          <a:p>
            <a:pPr>
              <a:defRPr>
                <a:solidFill>
                  <a:srgbClr val="334155"/>
                </a:solidFill>
                <a:latin typeface="Microsoft YaHei"/>
              </a:defRPr>
            </a:pPr>
            <a:r>
              <a:t>示例上下文：今晚把活动流程和……</a:t>
            </a:r>
          </a:p>
          <a:p>
            <a:pPr>
              <a:defRPr>
                <a:solidFill>
                  <a:srgbClr val="334155"/>
                </a:solidFill>
                <a:latin typeface="Microsoft YaHei"/>
              </a:defRPr>
            </a:pPr>
            <a:endParaRPr/>
          </a:p>
          <a:p>
            <a:pPr>
              <a:defRPr>
                <a:solidFill>
                  <a:srgbClr val="334155"/>
                </a:solidFill>
                <a:latin typeface="Microsoft YaHei"/>
              </a:defRPr>
            </a:pPr>
            <a:r>
              <a:t>示例输出：</a:t>
            </a:r>
          </a:p>
          <a:p>
            <a:pPr>
              <a:defRPr>
                <a:solidFill>
                  <a:srgbClr val="334155"/>
                </a:solidFill>
                <a:latin typeface="Microsoft YaHei"/>
              </a:defRPr>
            </a:pPr>
            <a:r>
              <a:t>主持词；开场白；串场词</a:t>
            </a:r>
          </a:p>
          <a:p>
            <a:pPr>
              <a:defRPr>
                <a:solidFill>
                  <a:srgbClr val="334155"/>
                </a:solidFill>
                <a:latin typeface="Microsoft YaHei"/>
              </a:defRPr>
            </a:pPr>
            <a:r>
              <a:t>说明它能顺着当前任务继续补全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46136" y="1783080"/>
            <a:ext cx="3383280" cy="33832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946136" y="1783080"/>
            <a:ext cx="128016" cy="33832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183880" y="1929384"/>
            <a:ext cx="3017520" cy="16696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>
                <a:solidFill>
                  <a:srgbClr val="334155"/>
                </a:solidFill>
                <a:latin typeface="Microsoft YaHei"/>
              </a:defRPr>
            </a:pPr>
            <a:r>
              <a:t>学习语境</a:t>
            </a:r>
          </a:p>
          <a:p>
            <a:pPr>
              <a:defRPr>
                <a:solidFill>
                  <a:srgbClr val="334155"/>
                </a:solidFill>
                <a:latin typeface="Microsoft YaHei"/>
              </a:defRPr>
            </a:pPr>
            <a:r>
              <a:t>示例上下文：我打算先做几套……</a:t>
            </a:r>
          </a:p>
          <a:p>
            <a:pPr>
              <a:defRPr>
                <a:solidFill>
                  <a:srgbClr val="334155"/>
                </a:solidFill>
                <a:latin typeface="Microsoft YaHei"/>
              </a:defRPr>
            </a:pPr>
            <a:endParaRPr/>
          </a:p>
          <a:p>
            <a:pPr>
              <a:defRPr>
                <a:solidFill>
                  <a:srgbClr val="334155"/>
                </a:solidFill>
                <a:latin typeface="Microsoft YaHei"/>
              </a:defRPr>
            </a:pPr>
            <a:r>
              <a:t>示例输出：</a:t>
            </a:r>
          </a:p>
          <a:p>
            <a:pPr>
              <a:defRPr>
                <a:solidFill>
                  <a:srgbClr val="334155"/>
                </a:solidFill>
                <a:latin typeface="Microsoft YaHei"/>
              </a:defRPr>
            </a:pPr>
            <a:r>
              <a:t>真题；错题整理；复习计划</a:t>
            </a:r>
          </a:p>
          <a:p>
            <a:pPr>
              <a:defRPr>
                <a:solidFill>
                  <a:srgbClr val="334155"/>
                </a:solidFill>
                <a:latin typeface="Microsoft YaHei"/>
              </a:defRPr>
            </a:pPr>
            <a:r>
              <a:t>说明它能帮助用户继续组织内容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6446520"/>
            <a:ext cx="1078992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49808" y="6473952"/>
            <a:ext cx="5029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Microsoft YaHei"/>
              </a:defRPr>
            </a:pPr>
            <a:r>
              <a:t>Wisdom-Weasel / 演示版</a:t>
            </a:r>
          </a:p>
        </p:txBody>
      </p:sp>
      <p:pic>
        <p:nvPicPr>
          <p:cNvPr id="18" name="图片 17" descr="image">
            <a:extLst>
              <a:ext uri="{FF2B5EF4-FFF2-40B4-BE49-F238E27FC236}">
                <a16:creationId xmlns:a16="http://schemas.microsoft.com/office/drawing/2014/main" id="{904F0780-BB41-F0FB-341E-0BAB3A7F1A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730755"/>
            <a:ext cx="4756499" cy="670611"/>
          </a:xfrm>
          <a:prstGeom prst="rect">
            <a:avLst/>
          </a:prstGeom>
        </p:spPr>
      </p:pic>
      <p:pic>
        <p:nvPicPr>
          <p:cNvPr id="20" name="图片 19" descr="image">
            <a:extLst>
              <a:ext uri="{FF2B5EF4-FFF2-40B4-BE49-F238E27FC236}">
                <a16:creationId xmlns:a16="http://schemas.microsoft.com/office/drawing/2014/main" id="{25F9F81E-FBBB-9E95-FE3E-C2F10C93FA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3517" y="5730755"/>
            <a:ext cx="5040726" cy="66953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3604</TotalTime>
  <Words>415</Words>
  <Application>Microsoft Office PowerPoint</Application>
  <PresentationFormat>宽屏</PresentationFormat>
  <Paragraphs>126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0" baseType="lpstr">
      <vt:lpstr>Microsoft YaHei</vt:lpstr>
      <vt:lpstr>Microsoft YaHei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Jiaying Liu</cp:lastModifiedBy>
  <cp:revision>11</cp:revision>
  <dcterms:created xsi:type="dcterms:W3CDTF">2013-01-27T09:14:16Z</dcterms:created>
  <dcterms:modified xsi:type="dcterms:W3CDTF">2026-04-25T15:20:08Z</dcterms:modified>
  <cp:category/>
</cp:coreProperties>
</file>