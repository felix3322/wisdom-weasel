
<file path=[Content_Types].xml><?xml version="1.0" encoding="utf-8"?>
<Types xmlns="http://schemas.openxmlformats.org/package/2006/content-types">
  <Default Extension="2U3-B1OTOPMH8zFHvHnrarZIWqnTBo0WYDZAbfPeuZ0" ContentType="image/png"/>
  <Default Extension="FsZZSbwNgZFeZy9OtbH8iqkH_I9xnn8uooxAGQWteEs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78" d="100"/>
          <a:sy n="178" d="100"/>
        </p:scale>
        <p:origin x="-402" y="-5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FsZZSbwNgZFeZy9OtbH8iqkH_I9xnn8uooxAGQWteEs"/><Relationship Id="rId2" Type="http://schemas.openxmlformats.org/officeDocument/2006/relationships/image" Target="../media/image1.2U3-B1OTOPMH8zFHvHnrarZIWqnTBo0WYDZAbfPeuZ0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rime.im/" TargetMode="External"/><Relationship Id="rId2" Type="http://schemas.openxmlformats.org/officeDocument/2006/relationships/hyperlink" Target="https://github.com/amzxyz/rime_wanxiang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6012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13232" y="0"/>
            <a:ext cx="146304" cy="6858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98448" y="1005840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Microsoft YaHei"/>
              </a:defRPr>
            </a:pPr>
            <a:r>
              <a:rPr dirty="0"/>
              <a:t>Wisdom-Weasel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847088"/>
            <a:ext cx="9692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34155"/>
                </a:solidFill>
                <a:latin typeface="Microsoft YaHei"/>
              </a:defRPr>
            </a:pPr>
            <a:r>
              <a:t>基于上下文感知候选重排与联想预测的智能中文输入法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25880" y="2743200"/>
            <a:ext cx="9144000" cy="713232"/>
          </a:xfrm>
          <a:prstGeom prst="roundRect">
            <a:avLst/>
          </a:prstGeom>
          <a:solidFill>
            <a:srgbClr val="F1F5F9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08760" y="2852928"/>
            <a:ext cx="8823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Microsoft YaHei"/>
              </a:defRPr>
            </a:pPr>
            <a:r>
              <a:rPr dirty="0" err="1"/>
              <a:t>让输入法从“拼音转文字工具”升级为“表达协作系统</a:t>
            </a:r>
            <a:r>
              <a:rPr dirty="0"/>
              <a:t>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840480"/>
            <a:ext cx="941832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4155"/>
                </a:solidFill>
                <a:latin typeface="Microsoft YaHei"/>
              </a:defRPr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作者姓名：刘佳颖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334155"/>
                </a:solidFill>
                <a:latin typeface="Microsoft YaHei"/>
              </a:defRPr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学校全称：上海外国语大学附属外国语学校松江云间中学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334155"/>
                </a:solidFill>
                <a:latin typeface="Microsoft YaHei"/>
              </a:defRPr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指导老师：丁海霞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334155"/>
                </a:solidFill>
                <a:latin typeface="Microsoft YaHei"/>
              </a:defRPr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编程语言：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C++, Lua, Python</a:t>
            </a:r>
            <a:b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辅助工具：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Codex CLI, Claude Code, Kimi k2.5,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MiniMax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M2.7</a:t>
            </a:r>
            <a:endParaRPr lang="en-US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334155"/>
                </a:solidFill>
                <a:latin typeface="Microsoft YaHei"/>
              </a:defRPr>
            </a:pPr>
            <a:r>
              <a:rPr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核心方向：理解语境、优化候选顺序、在停顿时继续辅助表达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6446520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6473952"/>
            <a:ext cx="154882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Microsoft YaHei"/>
              </a:defRPr>
            </a:pP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Wisdom-Weasel /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演示版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7656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017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7432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01 问题定义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58368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传统输入法真正的问题：不理解“我现在在写什么”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1042416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同一组拼音在不同语境下，用户真正想要的候选完全不同</a:t>
            </a:r>
            <a:endParaRPr dirty="0"/>
          </a:p>
          <a:p>
            <a:pPr>
              <a:spcAft>
                <a:spcPts val="600"/>
              </a:spcAft>
              <a:defRPr sz="1800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传统输入法主要依赖静态词频和局部调频，缺少对上下文的理解</a:t>
            </a:r>
            <a:endParaRPr dirty="0"/>
          </a:p>
          <a:p>
            <a:r>
              <a:rPr lang="zh-CN" altLang="zh-CN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传统输入法最大的问题，其实不是词库不够大（这一点重要，但是已经被解决），而是它并不真正理解用户此刻在写什么。</a:t>
            </a:r>
            <a:br>
              <a:rPr lang="zh-CN" altLang="zh-CN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zh-CN" altLang="zh-CN" dirty="0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68680" y="3794760"/>
            <a:ext cx="3291840" cy="1371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68680" y="3794760"/>
            <a:ext cx="128016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6424" y="3941064"/>
            <a:ext cx="2926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t>考试语境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Microsoft YaHei"/>
              </a:defRPr>
            </a:pPr>
            <a:r>
              <a:t>输入：fx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Microsoft YaHei"/>
              </a:defRPr>
            </a:pPr>
            <a:r>
              <a:t>真正想要：复习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Microsoft YaHei"/>
              </a:defRPr>
            </a:pPr>
            <a:r>
              <a:t>而不是：分析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3794760"/>
            <a:ext cx="3291840" cy="1371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3794760"/>
            <a:ext cx="128016" cy="13716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72584" y="3941064"/>
            <a:ext cx="2926080" cy="1084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rPr dirty="0" err="1"/>
              <a:t>发布语境</a:t>
            </a:r>
            <a:endParaRPr dirty="0"/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输入：bg</a:t>
            </a:r>
            <a:endParaRPr dirty="0"/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真正想要：变更</a:t>
            </a:r>
            <a:endParaRPr dirty="0"/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Microsoft YaHei"/>
              </a:defRPr>
            </a:pPr>
            <a:r>
              <a:rPr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而不是</a:t>
            </a:r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不过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001000" y="3794760"/>
            <a:ext cx="3291840" cy="1371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01000" y="3794760"/>
            <a:ext cx="128016" cy="137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38744" y="3941064"/>
            <a:ext cx="2926080" cy="1084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rPr dirty="0" err="1"/>
              <a:t>主持语境</a:t>
            </a:r>
            <a:endParaRPr dirty="0"/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输入：zc</a:t>
            </a:r>
            <a:endParaRPr dirty="0"/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真正想要：主持</a:t>
            </a:r>
            <a:endParaRPr dirty="0"/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Microsoft YaHei"/>
              </a:defRPr>
            </a:pPr>
            <a:r>
              <a:rPr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而不是</a:t>
            </a:r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正常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31520" y="6446520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8" y="6473952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Microsoft YaHei"/>
              </a:defRPr>
            </a:pPr>
            <a:r>
              <a:t>Wisdom-Weasel / 演示版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017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7432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02 演示一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58368"/>
            <a:ext cx="699101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rPr lang="zh-CN" altLang="en-US" sz="2400"/>
              <a:t>有拼音输入时，系统会根据语境把更合理的词提前</a:t>
            </a:r>
            <a:endParaRPr sz="2400"/>
          </a:p>
        </p:txBody>
      </p:sp>
      <p:sp>
        <p:nvSpPr>
          <p:cNvPr id="5" name="TextBox 4"/>
          <p:cNvSpPr txBox="1"/>
          <p:nvPr/>
        </p:nvSpPr>
        <p:spPr>
          <a:xfrm>
            <a:off x="777240" y="1261872"/>
            <a:ext cx="18473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Microsoft YaHei"/>
              </a:defRPr>
            </a:pPr>
            <a:endParaRPr sz="1600"/>
          </a:p>
        </p:txBody>
      </p:sp>
      <p:sp>
        <p:nvSpPr>
          <p:cNvPr id="7" name="Rounded Rectangle 6"/>
          <p:cNvSpPr/>
          <p:nvPr/>
        </p:nvSpPr>
        <p:spPr>
          <a:xfrm>
            <a:off x="822960" y="5532120"/>
            <a:ext cx="105613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5641848"/>
            <a:ext cx="6186309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34155"/>
                </a:solidFill>
                <a:latin typeface="Microsoft YaHei"/>
              </a:defRPr>
            </a:pPr>
            <a:r>
              <a:rPr lang="zh-CN" altLang="en-US" sz="1300"/>
              <a:t>注：微信输入法可能有个性化调优，所以结果会因账号、习惯和设备不同而变化。</a:t>
            </a:r>
            <a:endParaRPr sz="1300"/>
          </a:p>
        </p:txBody>
      </p:sp>
      <p:sp>
        <p:nvSpPr>
          <p:cNvPr id="9" name="Rectangle 8"/>
          <p:cNvSpPr/>
          <p:nvPr/>
        </p:nvSpPr>
        <p:spPr>
          <a:xfrm>
            <a:off x="731520" y="6446520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6473952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Microsoft YaHei"/>
              </a:defRPr>
            </a:pPr>
            <a:r>
              <a:t>Wisdom-Weasel / 演示版</a:t>
            </a: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DCC2403C-5066-FEEE-A96B-282A912B8B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3037298"/>
              </p:ext>
            </p:extLst>
          </p:nvPr>
        </p:nvGraphicFramePr>
        <p:xfrm>
          <a:off x="1333500" y="1333500"/>
          <a:ext cx="9652000" cy="39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5000">
                  <a:extLst>
                    <a:ext uri="{9D8B030D-6E8A-4147-A177-3AD203B41FA5}">
                      <a16:colId xmlns:a16="http://schemas.microsoft.com/office/drawing/2014/main" val="251087818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856280054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947284830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785589532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408510316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r>
                        <a:rPr lang="zh-CN" altLang="en-US" sz="1050" b="1">
                          <a:latin typeface="Microsoft YaHei" panose="020B0503020204020204" pitchFamily="34" charset="-122"/>
                        </a:rPr>
                        <a:t>场景上下文 </a:t>
                      </a:r>
                      <a:r>
                        <a:rPr lang="en-US" altLang="zh-CN" sz="1050" b="1">
                          <a:latin typeface="Microsoft YaHei" panose="020B0503020204020204" pitchFamily="34" charset="-122"/>
                        </a:rPr>
                        <a:t>(Context)</a:t>
                      </a:r>
                      <a:endParaRPr lang="zh-CN" altLang="en-US" sz="1050" b="1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50" b="1">
                          <a:latin typeface="Microsoft YaHei" panose="020B0503020204020204" pitchFamily="34" charset="-122"/>
                        </a:rPr>
                        <a:t>输入 </a:t>
                      </a:r>
                      <a:r>
                        <a:rPr lang="en-US" altLang="zh-CN" sz="1050" b="1">
                          <a:latin typeface="Microsoft YaHei" panose="020B0503020204020204" pitchFamily="34" charset="-122"/>
                        </a:rPr>
                        <a:t>(Pinyin)</a:t>
                      </a:r>
                      <a:endParaRPr lang="zh-CN" altLang="en-US" sz="1050" b="1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50" b="1">
                          <a:latin typeface="Microsoft YaHei" panose="020B0503020204020204" pitchFamily="34" charset="-122"/>
                        </a:rPr>
                        <a:t>预期结果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50" b="1">
                          <a:latin typeface="Microsoft YaHei" panose="020B0503020204020204" pitchFamily="34" charset="-122"/>
                        </a:rPr>
                        <a:t>Alpha </a:t>
                      </a:r>
                      <a:r>
                        <a:rPr lang="zh-CN" altLang="en-US" sz="1050" b="1">
                          <a:latin typeface="Microsoft YaHei" panose="020B0503020204020204" pitchFamily="34" charset="-122"/>
                        </a:rPr>
                        <a:t>向量排序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50" b="1">
                          <a:latin typeface="Microsoft YaHei" panose="020B0503020204020204" pitchFamily="34" charset="-122"/>
                        </a:rPr>
                        <a:t>微信输入法表现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2801377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lang="zh-CN" altLang="en-US" sz="900" b="0">
                          <a:latin typeface="Microsoft YaHei" panose="020B0503020204020204" pitchFamily="34" charset="-122"/>
                        </a:rPr>
                        <a:t>马上要考试了，我需要开始</a:t>
                      </a:r>
                      <a:r>
                        <a:rPr lang="en-US" altLang="zh-CN" sz="900" b="0">
                          <a:latin typeface="Microsoft YaHei" panose="020B0503020204020204" pitchFamily="34" charset="-122"/>
                        </a:rPr>
                        <a:t>...</a:t>
                      </a:r>
                      <a:endParaRPr lang="zh-CN" altLang="en-US" sz="900" b="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latin typeface="Microsoft YaHei" panose="020B0503020204020204" pitchFamily="34" charset="-122"/>
                        </a:rPr>
                        <a:t>fx</a:t>
                      </a:r>
                      <a:endParaRPr lang="zh-CN" altLang="en-US" sz="900" b="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b="0">
                          <a:latin typeface="Microsoft YaHei" panose="020B0503020204020204" pitchFamily="34" charset="-122"/>
                        </a:rPr>
                        <a:t>复习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b="0">
                          <a:latin typeface="Microsoft YaHei" panose="020B0503020204020204" pitchFamily="34" charset="-122"/>
                        </a:rPr>
                        <a:t>复习 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b="0">
                          <a:latin typeface="Microsoft YaHei" panose="020B0503020204020204" pitchFamily="34" charset="-122"/>
                        </a:rPr>
                        <a:t>复习 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0601893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lang="zh-CN" altLang="en-US" sz="900" b="0">
                          <a:latin typeface="Microsoft YaHei" panose="020B0503020204020204" pitchFamily="34" charset="-122"/>
                        </a:rPr>
                        <a:t>下周要去杭州出差，先把酒店和</a:t>
                      </a:r>
                      <a:r>
                        <a:rPr lang="en-US" altLang="zh-CN" sz="900" b="0">
                          <a:latin typeface="Microsoft YaHei" panose="020B0503020204020204" pitchFamily="34" charset="-122"/>
                        </a:rPr>
                        <a:t>...</a:t>
                      </a:r>
                      <a:endParaRPr lang="zh-CN" altLang="en-US" sz="900" b="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latin typeface="Microsoft YaHei" panose="020B0503020204020204" pitchFamily="34" charset="-122"/>
                        </a:rPr>
                        <a:t>jp</a:t>
                      </a:r>
                      <a:endParaRPr lang="zh-CN" altLang="en-US" sz="900" b="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b="0">
                          <a:latin typeface="Microsoft YaHei" panose="020B0503020204020204" pitchFamily="34" charset="-122"/>
                        </a:rPr>
                        <a:t>机票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b="0">
                          <a:latin typeface="Microsoft YaHei" panose="020B0503020204020204" pitchFamily="34" charset="-122"/>
                        </a:rPr>
                        <a:t>机票 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b="0">
                          <a:latin typeface="Microsoft YaHei" panose="020B0503020204020204" pitchFamily="34" charset="-122"/>
                        </a:rPr>
                        <a:t>机票 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662592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lang="zh-CN" altLang="en-US" sz="900" b="0">
                          <a:latin typeface="Microsoft YaHei" panose="020B0503020204020204" pitchFamily="34" charset="-122"/>
                        </a:rPr>
                        <a:t>明天要发布新版本，先把发布说明和</a:t>
                      </a:r>
                      <a:r>
                        <a:rPr lang="en-US" altLang="zh-CN" sz="900" b="0">
                          <a:latin typeface="Microsoft YaHei" panose="020B0503020204020204" pitchFamily="34" charset="-122"/>
                        </a:rPr>
                        <a:t>...</a:t>
                      </a:r>
                      <a:endParaRPr lang="zh-CN" altLang="en-US" sz="900" b="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latin typeface="Microsoft YaHei" panose="020B0503020204020204" pitchFamily="34" charset="-122"/>
                        </a:rPr>
                        <a:t>bg</a:t>
                      </a:r>
                      <a:endParaRPr lang="zh-CN" altLang="en-US" sz="900" b="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b="0">
                          <a:latin typeface="Microsoft YaHei" panose="020B0503020204020204" pitchFamily="34" charset="-122"/>
                        </a:rPr>
                        <a:t>变更日志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b="0">
                          <a:latin typeface="Microsoft YaHei" panose="020B0503020204020204" pitchFamily="34" charset="-122"/>
                        </a:rPr>
                        <a:t>变更日志 ✅（</a:t>
                      </a:r>
                      <a:r>
                        <a:rPr lang="en-US" altLang="zh-CN" sz="900" b="0">
                          <a:latin typeface="Microsoft YaHei" panose="020B0503020204020204" pitchFamily="34" charset="-122"/>
                        </a:rPr>
                        <a:t>v2 </a:t>
                      </a:r>
                      <a:r>
                        <a:rPr lang="zh-CN" altLang="en-US" sz="900" b="0">
                          <a:latin typeface="Microsoft YaHei" panose="020B0503020204020204" pitchFamily="34" charset="-122"/>
                        </a:rPr>
                        <a:t>引擎结果）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b="0">
                          <a:latin typeface="Microsoft YaHei" panose="020B0503020204020204" pitchFamily="34" charset="-122"/>
                        </a:rPr>
                        <a:t>报告 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7497908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lang="zh-CN" altLang="en-US" sz="900" b="0">
                          <a:latin typeface="Microsoft YaHei" panose="020B0503020204020204" pitchFamily="34" charset="-122"/>
                        </a:rPr>
                        <a:t>明天要上台主持活动，今晚把</a:t>
                      </a:r>
                      <a:r>
                        <a:rPr lang="en-US" altLang="zh-CN" sz="900" b="0">
                          <a:latin typeface="Microsoft YaHei" panose="020B0503020204020204" pitchFamily="34" charset="-122"/>
                        </a:rPr>
                        <a:t>...</a:t>
                      </a:r>
                      <a:endParaRPr lang="zh-CN" altLang="en-US" sz="900" b="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latin typeface="Microsoft YaHei" panose="020B0503020204020204" pitchFamily="34" charset="-122"/>
                        </a:rPr>
                        <a:t>zc</a:t>
                      </a:r>
                      <a:endParaRPr lang="zh-CN" altLang="en-US" sz="900" b="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b="0">
                          <a:latin typeface="Microsoft YaHei" panose="020B0503020204020204" pitchFamily="34" charset="-122"/>
                        </a:rPr>
                        <a:t>主持词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b="0">
                          <a:latin typeface="Microsoft YaHei" panose="020B0503020204020204" pitchFamily="34" charset="-122"/>
                        </a:rPr>
                        <a:t>主持词 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b="0">
                          <a:latin typeface="Microsoft YaHei" panose="020B0503020204020204" pitchFamily="34" charset="-122"/>
                        </a:rPr>
                        <a:t>支持 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673669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lang="zh-CN" altLang="en-US" sz="900" b="0">
                          <a:latin typeface="Microsoft YaHei" panose="020B0503020204020204" pitchFamily="34" charset="-122"/>
                        </a:rPr>
                        <a:t>这两天一直咳嗽发烧，下午得去</a:t>
                      </a:r>
                      <a:r>
                        <a:rPr lang="en-US" altLang="zh-CN" sz="900" b="0">
                          <a:latin typeface="Microsoft YaHei" panose="020B0503020204020204" pitchFamily="34" charset="-122"/>
                        </a:rPr>
                        <a:t>...</a:t>
                      </a:r>
                      <a:endParaRPr lang="zh-CN" altLang="en-US" sz="900" b="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latin typeface="Microsoft YaHei" panose="020B0503020204020204" pitchFamily="34" charset="-122"/>
                        </a:rPr>
                        <a:t>yy</a:t>
                      </a:r>
                      <a:endParaRPr lang="zh-CN" altLang="en-US" sz="900" b="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b="0">
                          <a:latin typeface="Microsoft YaHei" panose="020B0503020204020204" pitchFamily="34" charset="-122"/>
                        </a:rPr>
                        <a:t>医院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b="0">
                          <a:latin typeface="Microsoft YaHei" panose="020B0503020204020204" pitchFamily="34" charset="-122"/>
                        </a:rPr>
                        <a:t>医院 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b="0">
                          <a:latin typeface="Microsoft YaHei" panose="020B0503020204020204" pitchFamily="34" charset="-122"/>
                        </a:rPr>
                        <a:t>医院 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1583695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lang="zh-CN" altLang="en-US" sz="900" b="0">
                          <a:latin typeface="Microsoft YaHei" panose="020B0503020204020204" pitchFamily="34" charset="-122"/>
                        </a:rPr>
                        <a:t>今晚继续优化输入法 </a:t>
                      </a:r>
                      <a:r>
                        <a:rPr lang="en-US" altLang="zh-CN" sz="900" b="0">
                          <a:latin typeface="Microsoft YaHei" panose="020B0503020204020204" pitchFamily="34" charset="-122"/>
                        </a:rPr>
                        <a:t>DLL </a:t>
                      </a:r>
                      <a:r>
                        <a:rPr lang="zh-CN" altLang="en-US" sz="900" b="0">
                          <a:latin typeface="Microsoft YaHei" panose="020B0503020204020204" pitchFamily="34" charset="-122"/>
                        </a:rPr>
                        <a:t>的</a:t>
                      </a:r>
                      <a:r>
                        <a:rPr lang="en-US" altLang="zh-CN" sz="900" b="0">
                          <a:latin typeface="Microsoft YaHei" panose="020B0503020204020204" pitchFamily="34" charset="-122"/>
                        </a:rPr>
                        <a:t>...</a:t>
                      </a:r>
                      <a:endParaRPr lang="zh-CN" altLang="en-US" sz="900" b="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latin typeface="Microsoft YaHei" panose="020B0503020204020204" pitchFamily="34" charset="-122"/>
                        </a:rPr>
                        <a:t>cp</a:t>
                      </a:r>
                      <a:endParaRPr lang="zh-CN" altLang="en-US" sz="900" b="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b="0">
                          <a:latin typeface="Microsoft YaHei" panose="020B0503020204020204" pitchFamily="34" charset="-122"/>
                        </a:rPr>
                        <a:t>重排延迟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b="0">
                          <a:latin typeface="Microsoft YaHei" panose="020B0503020204020204" pitchFamily="34" charset="-122"/>
                        </a:rPr>
                        <a:t>重排延迟 ✅（</a:t>
                      </a:r>
                      <a:r>
                        <a:rPr lang="en-US" altLang="zh-CN" sz="900" b="0">
                          <a:latin typeface="Microsoft YaHei" panose="020B0503020204020204" pitchFamily="34" charset="-122"/>
                        </a:rPr>
                        <a:t>v2 </a:t>
                      </a:r>
                      <a:r>
                        <a:rPr lang="zh-CN" altLang="en-US" sz="900" b="0">
                          <a:latin typeface="Microsoft YaHei" panose="020B0503020204020204" pitchFamily="34" charset="-122"/>
                        </a:rPr>
                        <a:t>引擎结果，存在微调因素）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b="0">
                          <a:latin typeface="Microsoft YaHei" panose="020B0503020204020204" pitchFamily="34" charset="-122"/>
                        </a:rPr>
                        <a:t>产品 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5412099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lang="zh-CN" altLang="en-US" sz="900" b="0">
                          <a:latin typeface="Microsoft YaHei" panose="020B0503020204020204" pitchFamily="34" charset="-122"/>
                        </a:rPr>
                        <a:t>老师说明天考高数，我打算先做几套</a:t>
                      </a:r>
                      <a:r>
                        <a:rPr lang="en-US" altLang="zh-CN" sz="900" b="0">
                          <a:latin typeface="Microsoft YaHei" panose="020B0503020204020204" pitchFamily="34" charset="-122"/>
                        </a:rPr>
                        <a:t>...</a:t>
                      </a:r>
                      <a:endParaRPr lang="zh-CN" altLang="en-US" sz="900" b="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latin typeface="Microsoft YaHei" panose="020B0503020204020204" pitchFamily="34" charset="-122"/>
                        </a:rPr>
                        <a:t>zt</a:t>
                      </a:r>
                      <a:endParaRPr lang="zh-CN" altLang="en-US" sz="900" b="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b="0">
                          <a:latin typeface="Microsoft YaHei" panose="020B0503020204020204" pitchFamily="34" charset="-122"/>
                        </a:rPr>
                        <a:t>真题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b="0">
                          <a:latin typeface="Microsoft YaHei" panose="020B0503020204020204" pitchFamily="34" charset="-122"/>
                        </a:rPr>
                        <a:t>真题 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b="0">
                          <a:latin typeface="Microsoft YaHei" panose="020B0503020204020204" pitchFamily="34" charset="-122"/>
                        </a:rPr>
                        <a:t>状态 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915698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017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7432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03 演示二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58368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用户停下来时，输入法还能继续帮助表达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61872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无输入预测不是替用户写全文，而是在停顿时降低继续表达的成本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783080"/>
            <a:ext cx="3383280" cy="3383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68680" y="1783080"/>
            <a:ext cx="128016" cy="3383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6424" y="1929384"/>
            <a:ext cx="3017520" cy="18466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icrosoft YaHei"/>
              </a:defRPr>
            </a:pPr>
            <a:r>
              <a:rPr dirty="0" err="1"/>
              <a:t>技术语境</a:t>
            </a:r>
            <a:endParaRPr dirty="0"/>
          </a:p>
          <a:p>
            <a:pPr>
              <a:spcBef>
                <a:spcPts val="300"/>
              </a:spcBef>
              <a:defRPr sz="1400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示例上下文：今晚继续优化输入法</a:t>
            </a:r>
            <a:r>
              <a:rPr dirty="0"/>
              <a:t> DLL 的……</a:t>
            </a:r>
          </a:p>
          <a:p>
            <a:pPr>
              <a:spcBef>
                <a:spcPts val="300"/>
              </a:spcBef>
              <a:defRPr sz="1400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展示系统补出的短结果</a:t>
            </a:r>
            <a:r>
              <a:rPr lang="zh-CN" altLang="en-US" dirty="0"/>
              <a:t>：</a:t>
            </a:r>
            <a:endParaRPr lang="en-US" dirty="0"/>
          </a:p>
          <a:p>
            <a:pPr>
              <a:spcBef>
                <a:spcPts val="300"/>
              </a:spcBef>
              <a:defRPr sz="1400">
                <a:solidFill>
                  <a:srgbClr val="334155"/>
                </a:solidFill>
                <a:latin typeface="Microsoft YaHei"/>
              </a:defRPr>
            </a:pPr>
            <a:r>
              <a:rPr lang="zh-CN" altLang="en-US" dirty="0">
                <a:highlight>
                  <a:srgbClr val="FFFF00"/>
                </a:highlight>
              </a:rPr>
              <a:t>延迟；兼容性；性能</a:t>
            </a:r>
            <a:endParaRPr dirty="0">
              <a:highlight>
                <a:srgbClr val="FFFF00"/>
              </a:highlight>
            </a:endParaRPr>
          </a:p>
          <a:p>
            <a:pPr>
              <a:spcBef>
                <a:spcPts val="300"/>
              </a:spcBef>
              <a:defRPr sz="1400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强调它更像“继续表达”而不是“继续打字</a:t>
            </a:r>
            <a:r>
              <a:rPr dirty="0"/>
              <a:t>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783080"/>
            <a:ext cx="3383280" cy="3383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07408" y="1783080"/>
            <a:ext cx="128016" cy="33832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45152" y="1929384"/>
            <a:ext cx="3017520" cy="1669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icrosoft YaHei"/>
              </a:defRPr>
            </a:pPr>
            <a:r>
              <a:rPr dirty="0" err="1"/>
              <a:t>办公语境</a:t>
            </a:r>
            <a:endParaRPr dirty="0"/>
          </a:p>
          <a:p>
            <a:pPr>
              <a:spcBef>
                <a:spcPts val="300"/>
              </a:spcBef>
              <a:defRPr sz="1400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示例上下文：先把发布说明和</a:t>
            </a:r>
            <a:r>
              <a:rPr dirty="0"/>
              <a:t>……</a:t>
            </a:r>
          </a:p>
          <a:p>
            <a:pPr>
              <a:spcBef>
                <a:spcPts val="300"/>
              </a:spcBef>
              <a:defRPr sz="1400">
                <a:solidFill>
                  <a:srgbClr val="334155"/>
                </a:solidFill>
                <a:latin typeface="Microsoft YaHei"/>
              </a:defRPr>
            </a:pPr>
            <a:endParaRPr lang="en-US" dirty="0"/>
          </a:p>
          <a:p>
            <a:pPr>
              <a:spcBef>
                <a:spcPts val="300"/>
              </a:spcBef>
              <a:defRPr sz="1400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展示系统补出的短结果</a:t>
            </a:r>
            <a:r>
              <a:rPr lang="zh-CN" altLang="en-US" dirty="0"/>
              <a:t>：</a:t>
            </a:r>
            <a:endParaRPr lang="en-US" altLang="zh-CN" dirty="0"/>
          </a:p>
          <a:p>
            <a:pPr>
              <a:spcBef>
                <a:spcPts val="300"/>
              </a:spcBef>
              <a:defRPr sz="1400">
                <a:solidFill>
                  <a:srgbClr val="334155"/>
                </a:solidFill>
                <a:latin typeface="Microsoft YaHei"/>
              </a:defRPr>
            </a:pPr>
            <a:r>
              <a:rPr lang="zh-CN" altLang="en-US" dirty="0">
                <a:highlight>
                  <a:srgbClr val="FFFF00"/>
                </a:highlight>
              </a:rPr>
              <a:t>程序文件；时间；文件</a:t>
            </a:r>
            <a:endParaRPr dirty="0">
              <a:highlight>
                <a:srgbClr val="FFFF00"/>
              </a:highlight>
            </a:endParaRPr>
          </a:p>
          <a:p>
            <a:pPr>
              <a:spcBef>
                <a:spcPts val="300"/>
              </a:spcBef>
              <a:defRPr sz="1400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说明输入法开始进入写作辅助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7946136" y="1783080"/>
            <a:ext cx="3383280" cy="3383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946136" y="1783080"/>
            <a:ext cx="128016" cy="3383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83880" y="1929384"/>
            <a:ext cx="3017520" cy="1669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icrosoft YaHei"/>
              </a:defRPr>
            </a:pPr>
            <a:r>
              <a:rPr dirty="0" err="1"/>
              <a:t>学习语境</a:t>
            </a:r>
            <a:endParaRPr dirty="0"/>
          </a:p>
          <a:p>
            <a:pPr>
              <a:spcBef>
                <a:spcPts val="300"/>
              </a:spcBef>
              <a:defRPr sz="1400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示例上下文：我打算先做几套</a:t>
            </a:r>
            <a:r>
              <a:rPr dirty="0"/>
              <a:t>……</a:t>
            </a:r>
          </a:p>
          <a:p>
            <a:pPr>
              <a:spcBef>
                <a:spcPts val="300"/>
              </a:spcBef>
              <a:defRPr sz="1400">
                <a:solidFill>
                  <a:srgbClr val="334155"/>
                </a:solidFill>
                <a:latin typeface="Microsoft YaHei"/>
              </a:defRPr>
            </a:pPr>
            <a:endParaRPr lang="en-US" dirty="0"/>
          </a:p>
          <a:p>
            <a:pPr>
              <a:spcBef>
                <a:spcPts val="300"/>
              </a:spcBef>
              <a:defRPr sz="1400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展示系统补出的短结果</a:t>
            </a:r>
            <a:r>
              <a:rPr lang="zh-CN" altLang="en-US" dirty="0"/>
              <a:t>：</a:t>
            </a:r>
            <a:endParaRPr lang="en-US" dirty="0"/>
          </a:p>
          <a:p>
            <a:pPr>
              <a:spcBef>
                <a:spcPts val="300"/>
              </a:spcBef>
              <a:defRPr sz="1400">
                <a:solidFill>
                  <a:srgbClr val="334155"/>
                </a:solidFill>
                <a:latin typeface="Microsoft YaHei"/>
              </a:defRPr>
            </a:pPr>
            <a:r>
              <a:rPr lang="zh-CN" altLang="en-US" dirty="0">
                <a:highlight>
                  <a:srgbClr val="FFFF00"/>
                </a:highlight>
              </a:rPr>
              <a:t>题；真题</a:t>
            </a:r>
            <a:endParaRPr dirty="0">
              <a:highlight>
                <a:srgbClr val="FFFF00"/>
              </a:highlight>
            </a:endParaRPr>
          </a:p>
          <a:p>
            <a:pPr>
              <a:spcBef>
                <a:spcPts val="300"/>
              </a:spcBef>
              <a:defRPr sz="1400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说明它能帮助用户继续组织内容</a:t>
            </a:r>
            <a:endParaRPr dirty="0"/>
          </a:p>
        </p:txBody>
      </p:sp>
      <p:sp>
        <p:nvSpPr>
          <p:cNvPr id="15" name="Rectangle 14"/>
          <p:cNvSpPr/>
          <p:nvPr/>
        </p:nvSpPr>
        <p:spPr>
          <a:xfrm>
            <a:off x="731520" y="6446520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8" y="6473952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Microsoft YaHei"/>
              </a:defRPr>
            </a:pPr>
            <a:r>
              <a:t>Wisdom-Weasel / 演示版</a:t>
            </a:r>
          </a:p>
        </p:txBody>
      </p:sp>
      <p:pic>
        <p:nvPicPr>
          <p:cNvPr id="18" name="图片 17" descr="image">
            <a:extLst>
              <a:ext uri="{FF2B5EF4-FFF2-40B4-BE49-F238E27FC236}">
                <a16:creationId xmlns:a16="http://schemas.microsoft.com/office/drawing/2014/main" id="{904F0780-BB41-F0FB-341E-0BAB3A7F1A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730755"/>
            <a:ext cx="4756499" cy="670611"/>
          </a:xfrm>
          <a:prstGeom prst="rect">
            <a:avLst/>
          </a:prstGeom>
        </p:spPr>
      </p:pic>
      <p:pic>
        <p:nvPicPr>
          <p:cNvPr id="20" name="图片 19" descr="image">
            <a:extLst>
              <a:ext uri="{FF2B5EF4-FFF2-40B4-BE49-F238E27FC236}">
                <a16:creationId xmlns:a16="http://schemas.microsoft.com/office/drawing/2014/main" id="{25F9F81E-FBBB-9E95-FE3E-C2F10C93FA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3517" y="5730755"/>
            <a:ext cx="5040726" cy="6695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017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7432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04 系统方案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58368"/>
            <a:ext cx="5049139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rPr lang="zh-CN" altLang="en-US" sz="2200" dirty="0"/>
              <a:t>系统方案：输入</a:t>
            </a:r>
            <a:r>
              <a:rPr lang="en-US" altLang="zh-CN" sz="2200" dirty="0"/>
              <a:t>-&gt;</a:t>
            </a:r>
            <a:r>
              <a:rPr lang="zh-CN" altLang="en-US" sz="2200" dirty="0"/>
              <a:t>候选</a:t>
            </a:r>
            <a:r>
              <a:rPr lang="en-US" altLang="zh-CN" sz="2200" dirty="0"/>
              <a:t>-&gt;</a:t>
            </a:r>
            <a:r>
              <a:rPr lang="zh-CN" altLang="en-US" sz="2200" dirty="0"/>
              <a:t>重排</a:t>
            </a:r>
            <a:r>
              <a:rPr lang="en-US" altLang="zh-CN" sz="2200" dirty="0"/>
              <a:t>-&gt;</a:t>
            </a:r>
            <a:r>
              <a:rPr lang="zh-CN" altLang="en-US" sz="2200" dirty="0"/>
              <a:t>预测</a:t>
            </a:r>
            <a:endParaRPr sz="2200" dirty="0"/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2834640" cy="1645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7824" y="2029968"/>
            <a:ext cx="2560320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rPr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候选生成层</a:t>
            </a: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+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输入法后端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 sz="1100">
                <a:solidFill>
                  <a:srgbClr val="FFFFFF"/>
                </a:solidFill>
                <a:latin typeface="Microsoft YaHei"/>
              </a:defRPr>
            </a:pPr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</a:rPr>
              <a:t>Rime / </a:t>
            </a:r>
            <a:r>
              <a:rPr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万象</a:t>
            </a:r>
            <a:br>
              <a:rPr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负责拼音输入、词库、基础候选生成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 sz="1100">
                <a:solidFill>
                  <a:srgbClr val="FFFFFF"/>
                </a:solidFill>
                <a:latin typeface="Microsoft YaHei"/>
              </a:defRPr>
            </a:pPr>
            <a:r>
              <a:rPr lang="en-US" dirty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https://github.com/amzxyz/rime_wanxiang</a:t>
            </a:r>
            <a:endParaRPr lang="en-US" dirty="0">
              <a:solidFill>
                <a:schemeClr val="accent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 sz="1100">
                <a:solidFill>
                  <a:srgbClr val="FFFFFF"/>
                </a:solidFill>
                <a:latin typeface="Microsoft YaHei"/>
              </a:defRPr>
            </a:pPr>
            <a:r>
              <a:rPr lang="en-US" dirty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https://rime.im/</a:t>
            </a:r>
            <a:endParaRPr lang="en-US" dirty="0">
              <a:solidFill>
                <a:schemeClr val="accent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 sz="1100">
                <a:solidFill>
                  <a:srgbClr val="FFFFFF"/>
                </a:solidFill>
                <a:latin typeface="Microsoft YaHei"/>
              </a:defRPr>
            </a:pP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57600" y="251460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59E0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920240"/>
            <a:ext cx="2834640" cy="16459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06824" y="2029968"/>
            <a:ext cx="256032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rPr lang="zh-CN" altLang="en-US" sz="1900"/>
              <a:t>候选重排层 </a:t>
            </a:r>
            <a:r>
              <a:rPr lang="en-US" altLang="zh-CN" sz="1900"/>
              <a:t>| Alpha
</a:t>
            </a:r>
            <a:r>
              <a:rPr lang="zh-CN" altLang="en-US" sz="1900"/>
              <a:t>读入最近输入内容*，
把更符合语境的词排到前面</a:t>
            </a:r>
            <a:endParaRPr sz="1900" dirty="0"/>
          </a:p>
        </p:txBody>
      </p:sp>
      <p:sp>
        <p:nvSpPr>
          <p:cNvPr id="10" name="TextBox 9"/>
          <p:cNvSpPr txBox="1"/>
          <p:nvPr/>
        </p:nvSpPr>
        <p:spPr>
          <a:xfrm>
            <a:off x="7086600" y="251460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59E0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1920240"/>
            <a:ext cx="3749039" cy="1645920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35824" y="2029968"/>
            <a:ext cx="347471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rPr dirty="0" err="1"/>
              <a:t>表达预测层</a:t>
            </a:r>
            <a:endParaRPr dirty="0"/>
          </a:p>
          <a:p>
            <a:pPr>
              <a:defRPr sz="1100">
                <a:solidFill>
                  <a:srgbClr val="0F172A"/>
                </a:solidFill>
                <a:latin typeface="Microsoft YaHei"/>
              </a:defRPr>
            </a:pPr>
            <a:r>
              <a:rPr dirty="0"/>
              <a:t>LLM</a:t>
            </a:r>
            <a:br>
              <a:rPr dirty="0"/>
            </a:br>
            <a:r>
              <a:rPr dirty="0" err="1"/>
              <a:t>在无拼音场景下补出短词、短语或</a:t>
            </a:r>
            <a:r>
              <a:rPr lang="zh-CN" altLang="en-US" dirty="0"/>
              <a:t>表情符号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914400" y="4251960"/>
            <a:ext cx="10241280" cy="685800"/>
          </a:xfrm>
          <a:prstGeom prst="roundRect">
            <a:avLst/>
          </a:prstGeom>
          <a:solidFill>
            <a:srgbClr val="EFF6FF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4361688"/>
            <a:ext cx="845616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Microsoft YaHei"/>
              </a:defRPr>
            </a:pPr>
            <a:r>
              <a:rPr lang="zh-CN" altLang="en-US"/>
              <a:t>评委可以把它理解成：系统先给出一批候选，再结合你刚刚写的内容，把更合理的词提前。</a:t>
            </a: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5212080"/>
            <a:ext cx="100584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Microsoft YaHei"/>
              </a:defRPr>
            </a:pPr>
            <a:r>
              <a:rPr lang="zh-CN" altLang="en-US" sz="1400"/>
              <a:t>如果进一步解释 </a:t>
            </a:r>
            <a:r>
              <a:rPr lang="en-US" altLang="zh-CN" sz="1400"/>
              <a:t>Alpha </a:t>
            </a:r>
            <a:r>
              <a:rPr lang="zh-CN" altLang="en-US" sz="1400"/>
              <a:t>的内部做法，可以概括为：结合最近上下文*，预测 </a:t>
            </a:r>
            <a:r>
              <a:rPr lang="en-US" altLang="zh-CN" sz="1400"/>
              <a:t>token^ </a:t>
            </a:r>
            <a:r>
              <a:rPr lang="zh-CN" altLang="en-US" sz="1400"/>
              <a:t>向量</a:t>
            </a:r>
            <a:r>
              <a:rPr lang="en-US" altLang="zh-CN" sz="1400"/>
              <a:t>&amp;</a:t>
            </a:r>
            <a:r>
              <a:rPr lang="zh-CN" altLang="en-US" sz="1400"/>
              <a:t>，根据关联度</a:t>
            </a:r>
            <a:r>
              <a:rPr lang="en-US" altLang="zh-CN" sz="1400"/>
              <a:t>$ </a:t>
            </a:r>
            <a:r>
              <a:rPr lang="zh-CN" altLang="en-US" sz="1400"/>
              <a:t>排序候选。
*</a:t>
            </a:r>
            <a:r>
              <a:rPr lang="en-US" altLang="zh-CN" sz="1400"/>
              <a:t>: </a:t>
            </a:r>
            <a:r>
              <a:rPr lang="zh-CN" altLang="en-US" sz="1400"/>
              <a:t>最近输入的文本。</a:t>
            </a:r>
            <a:r>
              <a:rPr lang="en-US" altLang="zh-CN" sz="1400"/>
              <a:t>^: </a:t>
            </a:r>
            <a:r>
              <a:rPr lang="zh-CN" altLang="en-US" sz="1400"/>
              <a:t>大模型处理文本的基本单位。</a:t>
            </a:r>
            <a:r>
              <a:rPr lang="en-US" altLang="zh-CN" sz="1400"/>
              <a:t>&amp;: </a:t>
            </a:r>
            <a:r>
              <a:rPr lang="zh-CN" altLang="en-US" sz="1400"/>
              <a:t>用数字表示词语含义。</a:t>
            </a:r>
            <a:r>
              <a:rPr lang="en-US" altLang="zh-CN" sz="1400"/>
              <a:t>$: </a:t>
            </a:r>
            <a:r>
              <a:rPr lang="zh-CN" altLang="en-US" sz="1400"/>
              <a:t>当前语境和候选词的匹配程度。</a:t>
            </a:r>
            <a:endParaRPr sz="1400"/>
          </a:p>
        </p:txBody>
      </p:sp>
      <p:sp>
        <p:nvSpPr>
          <p:cNvPr id="16" name="Rectangle 15"/>
          <p:cNvSpPr/>
          <p:nvPr/>
        </p:nvSpPr>
        <p:spPr>
          <a:xfrm>
            <a:off x="731520" y="6446520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9808" y="6473952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Microsoft YaHei"/>
              </a:defRPr>
            </a:pPr>
            <a:r>
              <a:t>Wisdom-Weasel / 演示版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017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7432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05 核心创新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58368"/>
            <a:ext cx="884088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rPr lang="zh-CN" altLang="en-US"/>
              <a:t>项目真正的创新，不在界面，而在交互范式与模块边界</a:t>
            </a:r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474720" cy="15087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783080"/>
            <a:ext cx="128016" cy="1508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0704" y="1929384"/>
            <a:ext cx="310896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t>创新点 1</a:t>
            </a:r>
          </a:p>
          <a:p>
            <a:pPr>
              <a:spcBef>
                <a:spcPts val="300"/>
              </a:spcBef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从“拼音匹配”升级到“语义重排”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783080"/>
            <a:ext cx="3474720" cy="15087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70832" y="1783080"/>
            <a:ext cx="128016" cy="15087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08576" y="1929384"/>
            <a:ext cx="310896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t>创新点 2</a:t>
            </a:r>
          </a:p>
          <a:p>
            <a:pPr>
              <a:spcBef>
                <a:spcPts val="300"/>
              </a:spcBef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输入法被拆成“生成层 + 排序层 + 预测层”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18704" y="1783080"/>
            <a:ext cx="3474720" cy="15087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918704" y="1783080"/>
            <a:ext cx="128016" cy="1508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56448" y="1929384"/>
            <a:ext cx="310896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t>创新点 3</a:t>
            </a:r>
          </a:p>
          <a:p>
            <a:pPr>
              <a:spcBef>
                <a:spcPts val="300"/>
              </a:spcBef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用户上屏行为不再只是结果，而是未来排序的反馈信号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45920" y="3657600"/>
            <a:ext cx="3886200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645920" y="3657600"/>
            <a:ext cx="128016" cy="1554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883664" y="3803904"/>
            <a:ext cx="3520440" cy="623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rPr dirty="0" err="1"/>
              <a:t>创新点</a:t>
            </a:r>
            <a:r>
              <a:rPr dirty="0"/>
              <a:t> 4</a:t>
            </a:r>
          </a:p>
          <a:p>
            <a:pPr>
              <a:spcBef>
                <a:spcPts val="300"/>
              </a:spcBef>
              <a:defRPr sz="1400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强调本地实时智能，而不是云端依赖</a:t>
            </a:r>
            <a:endParaRPr dirty="0"/>
          </a:p>
        </p:txBody>
      </p:sp>
      <p:sp>
        <p:nvSpPr>
          <p:cNvPr id="17" name="Rounded Rectangle 16"/>
          <p:cNvSpPr/>
          <p:nvPr/>
        </p:nvSpPr>
        <p:spPr>
          <a:xfrm>
            <a:off x="6400800" y="3657600"/>
            <a:ext cx="3886200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0" y="3657600"/>
            <a:ext cx="128016" cy="1554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38544" y="3803904"/>
            <a:ext cx="3520440" cy="9233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rPr lang="zh-CN" altLang="en-US"/>
              <a:t>创新点 </a:t>
            </a:r>
            <a:r>
              <a:rPr lang="en-US" altLang="zh-CN"/>
              <a:t>5 | </a:t>
            </a:r>
            <a:r>
              <a:rPr lang="zh-CN" altLang="en-US"/>
              <a:t>新增独立 </a:t>
            </a:r>
            <a:r>
              <a:rPr lang="en-US" altLang="zh-CN"/>
              <a:t>AI </a:t>
            </a:r>
            <a:r>
              <a:rPr lang="zh-CN" altLang="en-US"/>
              <a:t>助手模块，支持 </a:t>
            </a:r>
            <a:r>
              <a:rPr lang="en-US" altLang="zh-CN"/>
              <a:t>ASR / AI </a:t>
            </a:r>
            <a:r>
              <a:rPr lang="zh-CN" altLang="en-US"/>
              <a:t>对话 </a:t>
            </a:r>
            <a:r>
              <a:rPr lang="en-US" altLang="zh-CN"/>
              <a:t>/ </a:t>
            </a:r>
            <a:r>
              <a:rPr lang="zh-CN" altLang="en-US"/>
              <a:t>语气润色</a:t>
            </a:r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0" y="6446520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9808" y="6473952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Microsoft YaHei"/>
              </a:defRPr>
            </a:pPr>
            <a:r>
              <a:t>Wisdom-Weasel / 演示版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872</Words>
  <Application>Microsoft Office PowerPoint</Application>
  <PresentationFormat>宽屏</PresentationFormat>
  <Paragraphs>118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微软雅黑</vt:lpstr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Jiaying Liu</cp:lastModifiedBy>
  <cp:revision>9</cp:revision>
  <dcterms:created xsi:type="dcterms:W3CDTF">2013-01-27T09:14:16Z</dcterms:created>
  <dcterms:modified xsi:type="dcterms:W3CDTF">2026-04-15T00:46:25Z</dcterms:modified>
  <cp:category/>
</cp:coreProperties>
</file>